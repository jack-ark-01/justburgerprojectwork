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Black" panose="020B0604020202020204" charset="0"/>
      <p:bold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Outfit" panose="020B0604020202020204" charset="0"/>
      <p:regular r:id="rId27"/>
      <p:bold r:id="rId28"/>
    </p:embeddedFont>
    <p:embeddedFont>
      <p:font typeface="Outfit Black" panose="020B0604020202020204" charset="0"/>
      <p:bold r:id="rId29"/>
    </p:embeddedFont>
    <p:embeddedFont>
      <p:font typeface="Outfit ExtraBold" panose="020B0604020202020204" charset="0"/>
      <p:bold r:id="rId30"/>
    </p:embeddedFont>
    <p:embeddedFont>
      <p:font typeface="Plus Jakarta Sans" panose="020B060402020202020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0"/>
    <a:srgbClr val="298D68"/>
    <a:srgbClr val="A5A5A5"/>
    <a:srgbClr val="C0C0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9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hyperlink" Target="https://just-burger-five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7150" y="1809750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900" y="1333500"/>
            <a:ext cx="4191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18185" y="1018806"/>
            <a:ext cx="6720840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5400" b="0" i="0" u="none" strike="noStrike" cap="none" dirty="0">
              <a:solidFill>
                <a:srgbClr val="000000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95707"/>
                </a:solidFill>
                <a:latin typeface="Inter Black"/>
                <a:ea typeface="Inter Black"/>
                <a:cs typeface="Inter Black"/>
                <a:sym typeface="Inter Black"/>
              </a:rPr>
              <a:t>JUST BURGERS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59143" y="2774477"/>
            <a:ext cx="6400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9570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CAMPAGNA PUBBLICITARIA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59143" y="3329226"/>
            <a:ext cx="6182497" cy="11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NUOVA ESPERIENZA MOBILE &amp; DELIVERY</a:t>
            </a:r>
            <a:endParaRPr sz="34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18185" y="4725173"/>
            <a:ext cx="4953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i="1" dirty="0">
                <a:solidFill>
                  <a:srgbClr val="A5A5A5"/>
                </a:solidFill>
              </a:rPr>
              <a:t>L’autenticità pura del chilometro zero incontra il design di un’esperienza moderna</a:t>
            </a:r>
          </a:p>
          <a:p>
            <a:br>
              <a:rPr lang="it-IT" dirty="0"/>
            </a:b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60F5194-9D53-453E-1115-679A5726E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272" y="1988775"/>
            <a:ext cx="3072256" cy="288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60639"/>
            <a:ext cx="12303211" cy="716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1882230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1882230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652" y="3120081"/>
            <a:ext cx="2877065" cy="15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699" y="3120081"/>
            <a:ext cx="2806749" cy="15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18599" y="3120081"/>
            <a:ext cx="2806749" cy="15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62025" y="581025"/>
            <a:ext cx="1098137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IL TEAM</a:t>
            </a:r>
            <a:endParaRPr dirty="0"/>
          </a:p>
        </p:txBody>
      </p:sp>
      <p:sp>
        <p:nvSpPr>
          <p:cNvPr id="104" name="Google Shape;104;p14"/>
          <p:cNvSpPr/>
          <p:nvPr/>
        </p:nvSpPr>
        <p:spPr>
          <a:xfrm>
            <a:off x="771525" y="581025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66800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Logica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4692699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318599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295400" y="3325266"/>
            <a:ext cx="250703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</a:rPr>
              <a:t>Modello di Business</a:t>
            </a:r>
          </a:p>
          <a:p>
            <a:br>
              <a:rPr lang="it-IT" sz="1800" dirty="0"/>
            </a:br>
            <a:endParaRPr sz="1800"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1409700" y="3692376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5F5F0"/>
                </a:solidFill>
                <a:latin typeface="Plus Jakarta Sans"/>
                <a:cs typeface="Plus Jakarta Sans"/>
                <a:sym typeface="Plus Jakarta Sans"/>
              </a:rPr>
              <a:t>Giagnorio Simone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5F5F0"/>
                </a:solidFill>
                <a:latin typeface="Plus Jakarta Sans"/>
                <a:cs typeface="Plus Jakarta Sans"/>
                <a:sym typeface="Plus Jakarta Sans"/>
              </a:rPr>
              <a:t>Rizzi Mattia</a:t>
            </a:r>
            <a:endParaRPr sz="2800" dirty="0">
              <a:solidFill>
                <a:srgbClr val="F5F5F0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921299" y="3325967"/>
            <a:ext cx="250703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</a:rPr>
              <a:t>User Experience &amp; UI</a:t>
            </a:r>
          </a:p>
          <a:p>
            <a:br>
              <a:rPr lang="it-IT" sz="1800" dirty="0"/>
            </a:br>
            <a:endParaRPr sz="1800"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4972417" y="3654012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</a:rPr>
              <a:t>Balaban Giulia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</a:rPr>
              <a:t>Torre Francesco</a:t>
            </a:r>
            <a:endParaRPr dirty="0">
              <a:solidFill>
                <a:srgbClr val="F5F5F0"/>
              </a:solidFill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8618316" y="3291018"/>
            <a:ext cx="25070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</a:rPr>
              <a:t>Tech &amp; Automazione</a:t>
            </a:r>
          </a:p>
        </p:txBody>
      </p:sp>
      <p:sp>
        <p:nvSpPr>
          <p:cNvPr id="122" name="Google Shape;122;p14"/>
          <p:cNvSpPr txBox="1"/>
          <p:nvPr/>
        </p:nvSpPr>
        <p:spPr>
          <a:xfrm>
            <a:off x="8598317" y="3648431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</a:rPr>
              <a:t>Archetti Giacomo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</a:rPr>
              <a:t>Barbieri Andrea</a:t>
            </a:r>
            <a:endParaRPr dirty="0">
              <a:solidFill>
                <a:srgbClr val="F5F5F0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FECD8A9-7191-A628-3485-E6125C056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3228" y="2037706"/>
            <a:ext cx="660220" cy="64957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122A590-749E-B9CE-1807-24F69DDCE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2037706"/>
            <a:ext cx="616027" cy="63656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58CF374-3D6A-0DCE-FA29-AA9C7D2EA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037706"/>
            <a:ext cx="728817" cy="686444"/>
          </a:xfrm>
          <a:prstGeom prst="rect">
            <a:avLst/>
          </a:prstGeom>
        </p:spPr>
      </p:pic>
      <p:pic>
        <p:nvPicPr>
          <p:cNvPr id="15" name="Google Shape;94;p14" descr="image.png">
            <a:extLst>
              <a:ext uri="{FF2B5EF4-FFF2-40B4-BE49-F238E27FC236}">
                <a16:creationId xmlns:a16="http://schemas.microsoft.com/office/drawing/2014/main" id="{0CD005D4-42F0-85CC-78F9-4527624F25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313" y="5219308"/>
            <a:ext cx="10649098" cy="144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1D9BEB-9653-CFB3-4F5F-A99D2FF14030}"/>
              </a:ext>
            </a:extLst>
          </p:cNvPr>
          <p:cNvSpPr txBox="1"/>
          <p:nvPr/>
        </p:nvSpPr>
        <p:spPr>
          <a:xfrm>
            <a:off x="2135586" y="5551502"/>
            <a:ext cx="7920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AD0766E-E4A0-CA50-1483-B68F3662B3E8}"/>
              </a:ext>
            </a:extLst>
          </p:cNvPr>
          <p:cNvSpPr txBox="1"/>
          <p:nvPr/>
        </p:nvSpPr>
        <p:spPr>
          <a:xfrm>
            <a:off x="780441" y="5326733"/>
            <a:ext cx="10630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it-IT" sz="1800" dirty="0">
                <a:solidFill>
                  <a:srgbClr val="298D68"/>
                </a:solidFill>
              </a:rPr>
              <a:t>Project lead</a:t>
            </a:r>
          </a:p>
        </p:txBody>
      </p:sp>
      <p:pic>
        <p:nvPicPr>
          <p:cNvPr id="22" name="Google Shape;100;p14" descr="image.png">
            <a:extLst>
              <a:ext uri="{FF2B5EF4-FFF2-40B4-BE49-F238E27FC236}">
                <a16:creationId xmlns:a16="http://schemas.microsoft.com/office/drawing/2014/main" id="{79070F3F-982D-5985-DA57-D5CED4069EC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13887" y="5834670"/>
            <a:ext cx="4374882" cy="56488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E4757D6-0C22-29FF-C73E-4777D7482389}"/>
              </a:ext>
            </a:extLst>
          </p:cNvPr>
          <p:cNvSpPr txBox="1"/>
          <p:nvPr/>
        </p:nvSpPr>
        <p:spPr>
          <a:xfrm>
            <a:off x="780441" y="5917748"/>
            <a:ext cx="10630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it-IT" sz="1600" dirty="0">
                <a:solidFill>
                  <a:srgbClr val="F5F5F0"/>
                </a:solidFill>
              </a:rPr>
              <a:t>Camoirano Alberto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6497" y="-98854"/>
            <a:ext cx="12278497" cy="711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22165"/>
            <a:ext cx="339729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322165"/>
            <a:ext cx="339729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2322165"/>
            <a:ext cx="3397299" cy="29564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962025" y="581025"/>
            <a:ext cx="1098137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FRAMEWORK OPERATIVO</a:t>
            </a:r>
            <a:endParaRPr dirty="0"/>
          </a:p>
        </p:txBody>
      </p:sp>
      <p:sp>
        <p:nvSpPr>
          <p:cNvPr id="132" name="Google Shape;132;p15"/>
          <p:cNvSpPr/>
          <p:nvPr/>
        </p:nvSpPr>
        <p:spPr>
          <a:xfrm>
            <a:off x="771525" y="581025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962025" y="2564191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98D68"/>
                </a:solidFill>
                <a:latin typeface="Poppins"/>
                <a:ea typeface="Poppins"/>
                <a:cs typeface="Poppins"/>
                <a:sym typeface="Poppins"/>
              </a:rPr>
              <a:t>Roadmap Synchronization</a:t>
            </a:r>
            <a:endParaRPr dirty="0">
              <a:solidFill>
                <a:srgbClr val="298D68"/>
              </a:solidFill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62024" y="2929676"/>
            <a:ext cx="280674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i="1" dirty="0">
                <a:solidFill>
                  <a:srgbClr val="F5F5F0"/>
                </a:solidFill>
              </a:rPr>
              <a:t>SINCRONIZZAZIONE STRATEGICA</a:t>
            </a:r>
            <a:endParaRPr sz="1050" b="1" i="1" dirty="0">
              <a:solidFill>
                <a:srgbClr val="F5F5F0"/>
              </a:solidFill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62024" y="3459892"/>
            <a:ext cx="2806749" cy="678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48"/>
              </a:lnSpc>
            </a:pPr>
            <a:r>
              <a:rPr lang="it-IT" sz="980" dirty="0">
                <a:solidFill>
                  <a:srgbClr val="A5A5A5"/>
                </a:solidFill>
              </a:rPr>
              <a:t>Allineamento totale tra obiettivi di business, design e sviluppo per garantire una visione condivisa e priorità chiare</a:t>
            </a:r>
            <a:endParaRPr sz="980" dirty="0">
              <a:solidFill>
                <a:srgbClr val="A5A5A5"/>
              </a:solidFill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4552361" y="2564191"/>
            <a:ext cx="294708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500" b="1" dirty="0">
                <a:solidFill>
                  <a:srgbClr val="298D68"/>
                </a:solidFill>
              </a:rPr>
              <a:t>Sprint </a:t>
            </a:r>
            <a:r>
              <a:rPr lang="it-IT" sz="1500" b="1" dirty="0" err="1">
                <a:solidFill>
                  <a:srgbClr val="298D68"/>
                </a:solidFill>
              </a:rPr>
              <a:t>Execution</a:t>
            </a:r>
            <a:endParaRPr lang="it-IT" sz="1500" b="1" dirty="0">
              <a:solidFill>
                <a:srgbClr val="298D68"/>
              </a:solidFill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137" name="Google Shape;137;p15"/>
          <p:cNvSpPr txBox="1"/>
          <p:nvPr/>
        </p:nvSpPr>
        <p:spPr>
          <a:xfrm>
            <a:off x="4552361" y="2988558"/>
            <a:ext cx="2806749" cy="59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050" b="1" i="1" dirty="0">
                <a:solidFill>
                  <a:srgbClr val="F5F5F0"/>
                </a:solidFill>
              </a:rPr>
              <a:t>ESECUZIONE AGILE</a:t>
            </a:r>
          </a:p>
          <a:p>
            <a:br>
              <a:rPr lang="it-IT" dirty="0"/>
            </a:br>
            <a:endParaRPr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4552361" y="3513817"/>
            <a:ext cx="2806749" cy="88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980" dirty="0">
                <a:solidFill>
                  <a:srgbClr val="A5A5A5"/>
                </a:solidFill>
              </a:rPr>
              <a:t>Cicli di lavoro brevi e focalizzati per trasformare le priorità in soluzioni concrete, mantenendo alta la produttività.</a:t>
            </a:r>
          </a:p>
          <a:p>
            <a:br>
              <a:rPr lang="it-IT" dirty="0"/>
            </a:b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8178261" y="2564191"/>
            <a:ext cx="2947087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500" b="1" dirty="0">
                <a:solidFill>
                  <a:srgbClr val="298D68"/>
                </a:solidFill>
              </a:rPr>
              <a:t>Iterative </a:t>
            </a:r>
            <a:r>
              <a:rPr lang="it-IT" sz="1500" b="1" dirty="0" err="1">
                <a:solidFill>
                  <a:srgbClr val="298D68"/>
                </a:solidFill>
              </a:rPr>
              <a:t>Validation</a:t>
            </a:r>
            <a:endParaRPr lang="it-IT" sz="1500" b="1" dirty="0">
              <a:solidFill>
                <a:srgbClr val="298D68"/>
              </a:solidFill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8199683" y="2988558"/>
            <a:ext cx="2806749" cy="59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050" b="1" i="1" dirty="0">
                <a:solidFill>
                  <a:srgbClr val="F5F5F0"/>
                </a:solidFill>
              </a:rPr>
              <a:t>VALIDAZIONE ITERATIVA</a:t>
            </a:r>
          </a:p>
          <a:p>
            <a:br>
              <a:rPr lang="it-IT" dirty="0"/>
            </a:b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8199683" y="3513817"/>
            <a:ext cx="2806749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980" dirty="0">
                <a:solidFill>
                  <a:srgbClr val="A5A5A5"/>
                </a:solidFill>
              </a:rPr>
              <a:t>Test e revisione continua del prodotto basati su feedback reali e dati, per ottimizzare costantemente i risultati.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912590"/>
            <a:ext cx="2095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7972425" y="1912590"/>
            <a:ext cx="2286000" cy="4000500"/>
          </a:xfrm>
          <a:prstGeom prst="roundRect">
            <a:avLst>
              <a:gd name="adj" fmla="val 16666"/>
            </a:avLst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CONCEPT &amp; VISION: L'IDEA GUIDA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1057275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Andiamo oltre la classica </a:t>
            </a:r>
            <a:r>
              <a:rPr lang="it-IT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burgeria</a:t>
            </a:r>
            <a:r>
              <a:rPr lang="it-IT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: creiamo un vero e proprio ecosistema digitale integrato.</a:t>
            </a:r>
            <a:endParaRPr lang="it-IT" dirty="0"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52" y="282587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037" y="419264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552" y="540975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4825" y="1969740"/>
            <a:ext cx="19812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48475" y="191065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048500" y="1915417"/>
            <a:ext cx="79176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INTEGRAZIONE</a:t>
            </a:r>
            <a:endParaRPr/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11916" y="248215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1011941" y="2486917"/>
            <a:ext cx="465683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QUALITÀ</a:t>
            </a:r>
            <a:endParaRPr dirty="0"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7377" y="2949698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1323975" y="2234046"/>
            <a:ext cx="535066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IDENTITÀ CULINARIA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1310879" y="2520417"/>
            <a:ext cx="50958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04"/>
              </a:lnSpc>
            </a:pPr>
            <a:r>
              <a:rPr lang="it-IT" sz="105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Fondere la passione per gli hamburger americani rivisitati con l'eccellenza delle materie prime DOC, DOP e a Km0. Attraverso la tecnologia, garantiamo la totale tracciabilità di una proposta sana e naturale, rispondendo ai valori di una clientela attenta alla bontà e all'ambiente.</a:t>
            </a:r>
            <a:endParaRPr dirty="0">
              <a:solidFill>
                <a:srgbClr val="A5A5A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7585" y="433714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323975" y="3803898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FOCUS SULLA COMMUNITY LOCALE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1323973" y="4123878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Trasformare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ogni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ordinazione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in un punto di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contatto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interattivo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stimolando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fidelizzazione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attraverso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logiche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di gamification ed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eventi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dedicati</a:t>
            </a:r>
            <a:r>
              <a:rPr lang="en-US" sz="10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7377" y="553357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1310879" y="5360769"/>
            <a:ext cx="50958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Superare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la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frammentazione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delle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ordinazioni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attraverso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una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piattaforma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unica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che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rende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il delivery semplice, intuitive, e </a:t>
            </a:r>
            <a:r>
              <a:rPr lang="en-US" sz="1050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rapido</a:t>
            </a:r>
            <a:r>
              <a:rPr lang="en-US" sz="1050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.</a:t>
            </a:r>
            <a:endParaRPr dirty="0"/>
          </a:p>
        </p:txBody>
      </p:sp>
      <p:sp>
        <p:nvSpPr>
          <p:cNvPr id="5" name="Google Shape;122;p14">
            <a:extLst>
              <a:ext uri="{FF2B5EF4-FFF2-40B4-BE49-F238E27FC236}">
                <a16:creationId xmlns:a16="http://schemas.microsoft.com/office/drawing/2014/main" id="{F99529D0-94E2-C0DB-E8F1-81AA66A7B6B5}"/>
              </a:ext>
            </a:extLst>
          </p:cNvPr>
          <p:cNvSpPr txBox="1"/>
          <p:nvPr/>
        </p:nvSpPr>
        <p:spPr>
          <a:xfrm>
            <a:off x="1310879" y="5040789"/>
            <a:ext cx="535066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Outfit ExtraBold"/>
                <a:sym typeface="Outfit ExtraBold"/>
              </a:rPr>
              <a:t>ORDINAZIONI DIGITALI PREMIUM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VISION: COSA HA ISPIRATO L'APP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Analisi dei trend di mercato e modelli applicativi di successo internazionale.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104900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 GRANDI DEL FAST FOOD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04900" y="3647330"/>
            <a:ext cx="450532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Abbiamo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studiato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fluidità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 la gamification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leader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mondiali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(es. McDonald's App).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L'obiettivo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è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replicare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velocità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d'acquisto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a 3 click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inserendo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però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elementi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unicità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artigianale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narrazione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1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prodotto</a:t>
            </a:r>
            <a:r>
              <a:rPr lang="en-US" sz="11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6581775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GIGANTI DEL DELIVERY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81775" y="3647330"/>
            <a:ext cx="450532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81"/>
              </a:lnSpc>
            </a:pPr>
            <a:r>
              <a:rPr lang="it-IT" sz="110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L'integrazione logistica si ispira alla precisione di Deliveroo, ma puntiamo a un delivery proprietario. In questo modo evitiamo commissioni esterne, gestiamo direttamente i nostri rider e manteniamo il controllo totale sulla qualità della consegna.</a:t>
            </a:r>
            <a:endParaRPr dirty="0">
              <a:solidFill>
                <a:srgbClr val="A5A5A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30443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4430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912590"/>
            <a:ext cx="2095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7972425" y="1912590"/>
            <a:ext cx="2286000" cy="4000500"/>
          </a:xfrm>
          <a:prstGeom prst="roundRect">
            <a:avLst>
              <a:gd name="adj" fmla="val 16666"/>
            </a:avLst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VISION: ISPIRAZIONE SOCIAL &amp; WEB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Il passaggio dall'advertising passivo a una community attiva e conversazionale.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96822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6225" y="46720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69740"/>
            <a:ext cx="19812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7975" y="5505450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838950" y="5510212"/>
            <a:ext cx="62671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INSTAGRAM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83775" y="5029200"/>
            <a:ext cx="762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0836175" y="5033962"/>
            <a:ext cx="593824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FACEBOOK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5350" y="3092053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1323975" y="2939653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STORYTELLING AUTENTICO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323975" y="3177778"/>
            <a:ext cx="50958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04"/>
              </a:lnSpc>
            </a:pPr>
            <a:r>
              <a:rPr lang="it-IT" sz="105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Contenuti video settimanali dedicati al "Food Porn" artigianale, al dietro le quinte in cucina e all’esaltazione delle materie prime locali, dalle carni ai vini.</a:t>
            </a:r>
            <a:endParaRPr sz="1050" dirty="0">
              <a:solidFill>
                <a:srgbClr val="A5A5A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0050" y="480137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323975" y="4231927"/>
            <a:ext cx="535066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Outfit ExtraBold"/>
                <a:sym typeface="Outfit ExtraBold"/>
              </a:rPr>
              <a:t>ISPIRAZIONE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1323975" y="4455765"/>
            <a:ext cx="50958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04"/>
              </a:lnSpc>
            </a:pPr>
            <a:r>
              <a:rPr lang="it-IT" sz="105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Ispirandoci al modello di successo del sito web di </a:t>
            </a:r>
            <a:r>
              <a:rPr lang="it-IT" sz="1050" i="1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Holy Cow</a:t>
            </a:r>
            <a:r>
              <a:rPr lang="it-IT" sz="105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, puntiamo a creare una piattaforma focalizzata sull'impatto visivo e sulla massima semplicità d'uso. Un percorso utente ottimizzato che riduca a zero i passaggi superflui, convertendo i follower social in clienti attivi e semplificando il delivery. </a:t>
            </a:r>
            <a:endParaRPr dirty="0">
              <a:solidFill>
                <a:srgbClr val="A5A5A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OBIETTIVI DELLA CAMPAGNA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1057275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Rafforzare la presenza del brand attraverso una strategia digitale integrata, orientata a visibilità e crescita.</a:t>
            </a:r>
            <a:endParaRPr sz="1200" dirty="0">
              <a:solidFill>
                <a:srgbClr val="A5A5A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1224431" y="3791396"/>
            <a:ext cx="15992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VISIBILITÀ SOCIAL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52500" y="4086671"/>
            <a:ext cx="2143125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Format video costanti e campagne geolocalizzate per catturare la community locale.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195182" y="3791396"/>
            <a:ext cx="108701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APP MOBILE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3667125" y="4086671"/>
            <a:ext cx="2143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Ordinazioni immediate, notifiche push intelligenti e sconti dedicati.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660709" y="3780510"/>
            <a:ext cx="1687794" cy="21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SITO ATTRATTIVO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6381750" y="4086671"/>
            <a:ext cx="2143125" cy="67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Sito internet </a:t>
            </a:r>
            <a:r>
              <a:rPr lang="en-US" sz="975" b="0" i="0" u="none" strike="noStrike" cap="none" dirty="0" err="1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perfettamente</a:t>
            </a:r>
            <a:r>
              <a:rPr lang="en-US" sz="975" b="0" i="0" u="none" strike="noStrike" cap="none" dirty="0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ottimizzato</a:t>
            </a:r>
            <a:r>
              <a:rPr lang="en-US" sz="975" b="0" i="0" u="none" strike="noStrike" cap="none" dirty="0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975" b="0" i="0" u="none" strike="noStrike" cap="none" dirty="0" err="1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acquisti</a:t>
            </a:r>
            <a:r>
              <a:rPr lang="en-US" sz="975" b="0" i="0" u="none" strike="noStrike" cap="none" dirty="0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 via smartphone.</a:t>
            </a:r>
            <a:endParaRPr dirty="0"/>
          </a:p>
        </p:txBody>
      </p:sp>
      <p:sp>
        <p:nvSpPr>
          <p:cNvPr id="184" name="Google Shape;184;p17"/>
          <p:cNvSpPr txBox="1"/>
          <p:nvPr/>
        </p:nvSpPr>
        <p:spPr>
          <a:xfrm>
            <a:off x="9565834" y="3791396"/>
            <a:ext cx="120405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SOCIAL LOOP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096375" y="4086671"/>
            <a:ext cx="2143125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 err="1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975" b="0" i="0" u="none" strike="noStrike" cap="none" dirty="0" err="1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rofili</a:t>
            </a:r>
            <a:r>
              <a:rPr lang="en-US" sz="975" b="0" i="0" u="none" strike="noStrike" cap="none" dirty="0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 social per </a:t>
            </a:r>
            <a:r>
              <a:rPr lang="en-US" sz="975" b="0" i="0" u="none" strike="noStrike" cap="none" dirty="0" err="1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un'esperienza</a:t>
            </a:r>
            <a:r>
              <a:rPr lang="en-US" sz="975" b="0" i="0" u="none" strike="noStrike" cap="none" dirty="0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 a 360°.</a:t>
            </a:r>
            <a:endParaRPr dirty="0"/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2612" y="323894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9150" y="3238946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1862" y="323894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96487" y="3238946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484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98340"/>
            <a:ext cx="4114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904875" y="571500"/>
            <a:ext cx="11051381" cy="6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2850" dirty="0">
                <a:solidFill>
                  <a:srgbClr val="F5F5F0"/>
                </a:solidFill>
              </a:rPr>
              <a:t>SOCIAL PERFORMANCE STRATEGY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18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62000" y="1057275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Implementazione</a:t>
            </a:r>
            <a:r>
              <a:rPr lang="en-US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del "Social Loop“.</a:t>
            </a:r>
            <a:endParaRPr dirty="0"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217390"/>
            <a:ext cx="40767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95374" y="2786506"/>
            <a:ext cx="5838825" cy="52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130" b="1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Strategia Video "Short-Form":</a:t>
            </a:r>
            <a:r>
              <a:rPr lang="it-IT" sz="1130" dirty="0">
                <a:solidFill>
                  <a:srgbClr val="A5A5A5"/>
                </a:solidFill>
                <a:latin typeface="Inter" panose="020B0604020202020204" charset="0"/>
                <a:ea typeface="Inter" panose="020B0604020202020204" charset="0"/>
              </a:rPr>
              <a:t> Creazione di contenuti video settimanali dedicati al "Food Porn" artigianale, al dietro le quinte in cucina e all’esaltazione delle materie prime locali.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1095375" y="3591371"/>
            <a:ext cx="583882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it-IT" sz="1125" b="1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Coinvolgimento della Community: </a:t>
            </a:r>
            <a:r>
              <a:rPr lang="it-IT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Gestione attiva delle interazioni per trasformare i follower in fan del brand, costruendo una relazione autentica.</a:t>
            </a:r>
            <a:endParaRPr dirty="0"/>
          </a:p>
        </p:txBody>
      </p:sp>
      <p:sp>
        <p:nvSpPr>
          <p:cNvPr id="202" name="Google Shape;202;p18"/>
          <p:cNvSpPr txBox="1"/>
          <p:nvPr/>
        </p:nvSpPr>
        <p:spPr>
          <a:xfrm>
            <a:off x="1095375" y="4386708"/>
            <a:ext cx="5838825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it-IT" sz="1125" b="1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Vendita Conversazionale: </a:t>
            </a:r>
            <a:r>
              <a:rPr lang="it-IT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Ottimizzazione dei </a:t>
            </a:r>
            <a:r>
              <a:rPr lang="it-IT" sz="1125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touchpoint</a:t>
            </a:r>
            <a:r>
              <a:rPr lang="it-IT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social tramite interfacce conversazionali avanzate, per offrire un’esperienza d’acquisto rapida, diretta e sempre attiva.</a:t>
            </a:r>
            <a:endParaRPr dirty="0"/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591" y="29103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6151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10521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98340"/>
            <a:ext cx="4114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904875" y="571500"/>
            <a:ext cx="11051381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MOBILE &amp; </a:t>
            </a:r>
            <a:r>
              <a:rPr lang="en-US" sz="2850" dirty="0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DELIVERY</a:t>
            </a:r>
            <a:endParaRPr dirty="0"/>
          </a:p>
        </p:txBody>
      </p:sp>
      <p:sp>
        <p:nvSpPr>
          <p:cNvPr id="213" name="Google Shape;213;p19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762000" y="1057275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Ecosistema</a:t>
            </a:r>
            <a:r>
              <a:rPr lang="en-US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Mobile-First ad </a:t>
            </a: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alta</a:t>
            </a:r>
            <a:r>
              <a:rPr lang="en-US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conversione</a:t>
            </a:r>
            <a:endParaRPr dirty="0"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217390"/>
            <a:ext cx="40767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1095374" y="2862230"/>
            <a:ext cx="583882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UX </a:t>
            </a: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Semplificata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(3 Click):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Interfaccia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minimale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pensata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per un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utilizzo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rapido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1125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connesso</a:t>
            </a:r>
            <a:r>
              <a:rPr lang="en-US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alle app di </a:t>
            </a:r>
            <a:r>
              <a:rPr lang="en-US" sz="1125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messaggistica</a:t>
            </a:r>
            <a:r>
              <a:rPr lang="en-US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principali</a:t>
            </a:r>
            <a:r>
              <a:rPr lang="en-US" sz="1125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1095375" y="3698527"/>
            <a:ext cx="583882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Notifiche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Push </a:t>
            </a: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Geolocalizzate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Avvisi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contestuali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sincronizzati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con data, ora e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posizione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1095373" y="4581532"/>
            <a:ext cx="583882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Pagamenti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One-Touch: </a:t>
            </a:r>
            <a:r>
              <a:rPr lang="en-US" sz="1125" b="1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elivery super intuitive 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ntegrazione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fluida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con Apple Pay, Google Pay e I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principali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Metodi di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pagamento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elettronici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010" y="2940941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82235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50" y="466024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904875" y="571500"/>
            <a:ext cx="11051381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SITO ATTRATTIVO</a:t>
            </a:r>
            <a:endParaRPr dirty="0"/>
          </a:p>
        </p:txBody>
      </p:sp>
      <p:sp>
        <p:nvSpPr>
          <p:cNvPr id="230" name="Google Shape;230;p20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762000" y="1057275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Progettato</a:t>
            </a:r>
            <a:r>
              <a:rPr lang="en-US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specificamente</a:t>
            </a:r>
            <a:r>
              <a:rPr lang="en-US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per le </a:t>
            </a:r>
            <a:r>
              <a:rPr lang="en-US" sz="120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esigenze</a:t>
            </a:r>
            <a:r>
              <a:rPr lang="en-US" sz="120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del mobile web</a:t>
            </a:r>
            <a:endParaRPr dirty="0"/>
          </a:p>
        </p:txBody>
      </p:sp>
      <p:sp>
        <p:nvSpPr>
          <p:cNvPr id="232" name="Google Shape;232;p20"/>
          <p:cNvSpPr txBox="1"/>
          <p:nvPr/>
        </p:nvSpPr>
        <p:spPr>
          <a:xfrm>
            <a:off x="1104900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VELOCITÀ E PERFORMANCE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104900" y="3647330"/>
            <a:ext cx="4505325" cy="53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ortale web è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leggerissimo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ottimizzato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caricamento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istantaneao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anche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sotto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copertura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di rete minima.</a:t>
            </a:r>
            <a:endParaRPr dirty="0"/>
          </a:p>
        </p:txBody>
      </p:sp>
      <p:sp>
        <p:nvSpPr>
          <p:cNvPr id="234" name="Google Shape;234;p20"/>
          <p:cNvSpPr txBox="1"/>
          <p:nvPr/>
        </p:nvSpPr>
        <p:spPr>
          <a:xfrm>
            <a:off x="6581775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APPROCCIO MOBILE-FIRST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581775" y="3647330"/>
            <a:ext cx="4505325" cy="53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Dedign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mobile-first ad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alte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prestazioni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studiato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garantire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un’esperienza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d’ordine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fluida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 intuitive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ogni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schermo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3044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4430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904875" y="571500"/>
            <a:ext cx="495061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PROMO &amp; FILOSOFIA</a:t>
            </a:r>
            <a:endParaRPr dirty="0"/>
          </a:p>
        </p:txBody>
      </p:sp>
      <p:sp>
        <p:nvSpPr>
          <p:cNvPr id="244" name="Google Shape;244;p21"/>
          <p:cNvSpPr/>
          <p:nvPr/>
        </p:nvSpPr>
        <p:spPr>
          <a:xfrm>
            <a:off x="762000" y="571500"/>
            <a:ext cx="45719" cy="438582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762000" y="2624137"/>
            <a:ext cx="51006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ETICA</a:t>
            </a:r>
            <a:r>
              <a:rPr lang="en-US" sz="1800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E 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TERRITORIO </a:t>
            </a:r>
            <a:endParaRPr dirty="0"/>
          </a:p>
        </p:txBody>
      </p:sp>
      <p:sp>
        <p:nvSpPr>
          <p:cNvPr id="247" name="Google Shape;247;p21"/>
          <p:cNvSpPr txBox="1"/>
          <p:nvPr/>
        </p:nvSpPr>
        <p:spPr>
          <a:xfrm>
            <a:off x="762000" y="3005137"/>
            <a:ext cx="4857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Uniamo</a:t>
            </a:r>
            <a:r>
              <a:rPr lang="en-US" sz="1125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125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convenienza</a:t>
            </a:r>
            <a:r>
              <a:rPr lang="en-US" sz="1125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delle </a:t>
            </a:r>
            <a:r>
              <a:rPr lang="en-US" sz="1125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promozioni</a:t>
            </a:r>
            <a:r>
              <a:rPr lang="en-US" sz="1125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a un forte </a:t>
            </a:r>
            <a:r>
              <a:rPr lang="en-US" sz="1125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posizionamento</a:t>
            </a:r>
            <a:r>
              <a:rPr lang="en-US" sz="1125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valoriale</a:t>
            </a:r>
            <a:r>
              <a:rPr lang="en-US" sz="1125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25" b="0" i="0" u="none" strike="noStrike" cap="none" dirty="0">
                <a:solidFill>
                  <a:srgbClr val="298D68"/>
                </a:solidFill>
                <a:latin typeface="Inter"/>
                <a:ea typeface="Inter"/>
                <a:cs typeface="Inter"/>
                <a:sym typeface="Inter"/>
              </a:rPr>
              <a:t>Da </a:t>
            </a:r>
            <a:r>
              <a:rPr lang="en-US" sz="1125" b="0" i="0" u="none" strike="noStrike" cap="none" dirty="0" err="1">
                <a:solidFill>
                  <a:srgbClr val="298D68"/>
                </a:solidFill>
                <a:latin typeface="Inter"/>
                <a:ea typeface="Inter"/>
                <a:cs typeface="Inter"/>
                <a:sym typeface="Inter"/>
              </a:rPr>
              <a:t>rivedere</a:t>
            </a:r>
            <a:endParaRPr dirty="0">
              <a:solidFill>
                <a:srgbClr val="298D68"/>
              </a:solidFill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117996" y="3669343"/>
            <a:ext cx="4524375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Le </a:t>
            </a: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persone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prima del </a:t>
            </a: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prodotto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Costruiamo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valore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attraverso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filiere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trasparenti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patership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durature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con I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produttori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locali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selezione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guidata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dalla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qualità</a:t>
            </a:r>
            <a:r>
              <a:rPr lang="en-US" sz="1125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, non dal Prezzo.</a:t>
            </a:r>
            <a:endParaRPr b="1" dirty="0"/>
          </a:p>
        </p:txBody>
      </p:sp>
      <p:sp>
        <p:nvSpPr>
          <p:cNvPr id="250" name="Google Shape;250;p21"/>
          <p:cNvSpPr txBox="1"/>
          <p:nvPr/>
        </p:nvSpPr>
        <p:spPr>
          <a:xfrm>
            <a:off x="1117996" y="4624386"/>
            <a:ext cx="4524375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25" b="1" dirty="0">
                <a:solidFill>
                  <a:srgbClr val="B3B3B3"/>
                </a:solidFill>
                <a:latin typeface="Inter"/>
                <a:ea typeface="Inter"/>
                <a:sym typeface="Inter"/>
              </a:rPr>
              <a:t>Ogni store racconta il luogo in cui nasce: </a:t>
            </a:r>
            <a:r>
              <a:rPr lang="it-IT" sz="1125" dirty="0">
                <a:solidFill>
                  <a:srgbClr val="B3B3B3"/>
                </a:solidFill>
                <a:latin typeface="Inter"/>
                <a:ea typeface="Inter"/>
                <a:sym typeface="Inter"/>
              </a:rPr>
              <a:t>ogni apertura valorizza eccellenze locali, trasformando ingredienti del territorio in panini e piatti unici che non potrebbero esistere altrove.</a:t>
            </a:r>
            <a:endParaRPr lang="it-IT" dirty="0"/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287" y="370268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396" y="4657723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VANTAGGI COMPETITIVI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Perché la nostra offerta integrata si distingue nettamente dai concorrenti tradizionali.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104900" y="3405336"/>
            <a:ext cx="473059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95707"/>
                </a:solidFill>
                <a:latin typeface="Outfit ExtraBold"/>
                <a:sym typeface="Outfit ExtraBold"/>
              </a:rPr>
              <a:t>DIFFERENZIAZIONE COMPETITIVA</a:t>
            </a:r>
            <a:endParaRPr dirty="0"/>
          </a:p>
        </p:txBody>
      </p:sp>
      <p:sp>
        <p:nvSpPr>
          <p:cNvPr id="265" name="Google Shape;265;p22"/>
          <p:cNvSpPr txBox="1"/>
          <p:nvPr/>
        </p:nvSpPr>
        <p:spPr>
          <a:xfrm>
            <a:off x="1104900" y="3757761"/>
            <a:ext cx="4505325" cy="8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Trasformiamo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ogni punto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vendita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in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un’esperienza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a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sè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grazie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a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un’offerta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che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integra le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eccellenze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locali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mantenendo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un’identità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di brand unica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nel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suo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sym typeface="Inter"/>
              </a:rPr>
              <a:t>genere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sym typeface="Inter"/>
              </a:rPr>
              <a:t>.</a:t>
            </a:r>
            <a:endParaRPr dirty="0"/>
          </a:p>
        </p:txBody>
      </p:sp>
      <p:sp>
        <p:nvSpPr>
          <p:cNvPr id="266" name="Google Shape;266;p22"/>
          <p:cNvSpPr txBox="1"/>
          <p:nvPr/>
        </p:nvSpPr>
        <p:spPr>
          <a:xfrm>
            <a:off x="6581775" y="3405336"/>
            <a:ext cx="473059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FIDELIZZAZIONE DEL CLIENTE</a:t>
            </a:r>
            <a:endParaRPr dirty="0"/>
          </a:p>
        </p:txBody>
      </p:sp>
      <p:sp>
        <p:nvSpPr>
          <p:cNvPr id="267" name="Google Shape;267;p22"/>
          <p:cNvSpPr txBox="1"/>
          <p:nvPr/>
        </p:nvSpPr>
        <p:spPr>
          <a:xfrm>
            <a:off x="6581775" y="3757761"/>
            <a:ext cx="4505325" cy="8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L’utilizzo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prodotti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territorio</a:t>
            </a:r>
            <a:r>
              <a:rPr lang="en-US" sz="1087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genera </a:t>
            </a:r>
            <a:r>
              <a:rPr lang="en-US" sz="1087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autenticità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aumenta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il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valore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percepito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crea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legame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emotive con la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comunità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locale,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favorendo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fidelizzazione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e il </a:t>
            </a:r>
            <a:r>
              <a:rPr lang="en-US" sz="1087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passaparola</a:t>
            </a:r>
            <a:r>
              <a:rPr lang="en-US" sz="1087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68" name="Google Shape;26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41486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41486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6175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175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RISULTATI ATTESI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Le proiezioni di crescita stimate entro i primi 12 mesi dal lancio della nuova piattaforma.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800850" y="2940694"/>
            <a:ext cx="48606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CRESCITA OPERATIVA SOSTENIBILE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800850" y="3274069"/>
            <a:ext cx="462915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La disintermediazione dalle grandi piattaforme di terze parti (come Just Eat o Deliveroo) ci permetterà di recuperare importanti punti di marginalità sul delivery.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800850" y="4079527"/>
            <a:ext cx="462915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Il focus sulla community locale e sulle dinamiche interattive dei social incrementerà la frequenza media d'acquisto, gettando le basi per un brand scalabile e di proprietà.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000125" y="284797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+45%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000125" y="339849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ORDINI DIRETTI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3924300" y="284797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+30%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3924300" y="339849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FIDELIZZAZIONE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000125" y="424621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+15k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000125" y="479673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DOWNLOAD APP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3924300" y="424621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-20%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3924300" y="479673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COSTI LOGISTICI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4" descr="image.pn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9182" y="4050952"/>
            <a:ext cx="3373487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2095500" y="2435572"/>
            <a:ext cx="8001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IL FUTURO È </a:t>
            </a:r>
            <a:r>
              <a:rPr lang="en-US" sz="4050" b="0" i="0" u="none" strike="noStrike" cap="none" dirty="0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DIGITALE.</a:t>
            </a:r>
            <a:endParaRPr dirty="0"/>
          </a:p>
        </p:txBody>
      </p:sp>
      <p:sp>
        <p:nvSpPr>
          <p:cNvPr id="300" name="Google Shape;300;p24"/>
          <p:cNvSpPr txBox="1"/>
          <p:nvPr/>
        </p:nvSpPr>
        <p:spPr>
          <a:xfrm>
            <a:off x="2286000" y="3168997"/>
            <a:ext cx="7620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Grazie per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l'attenzione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Unisciti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alla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rivoluzione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mobile di Just Burgers e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scopri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come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stiamo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ridefinendo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l'esperienza</a:t>
            </a:r>
            <a:r>
              <a:rPr lang="en-US" sz="1350" b="0" i="0" u="none" strike="noStrike" cap="none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del fast-food </a:t>
            </a:r>
            <a:r>
              <a:rPr lang="en-US" sz="1350" b="0" i="0" u="none" strike="noStrike" cap="none" dirty="0" err="1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artigianale</a:t>
            </a:r>
            <a:r>
              <a:rPr lang="en-US" sz="1350" dirty="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01" name="Google Shape;30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47307" y="416525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882C17-407D-1D59-7A89-D0148B18BD88}"/>
              </a:ext>
            </a:extLst>
          </p:cNvPr>
          <p:cNvSpPr txBox="1"/>
          <p:nvPr/>
        </p:nvSpPr>
        <p:spPr>
          <a:xfrm>
            <a:off x="3006894" y="1307602"/>
            <a:ext cx="61780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>
              <a:solidFill>
                <a:srgbClr val="F5F5F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987</Words>
  <Application>Microsoft Office PowerPoint</Application>
  <PresentationFormat>Widescreen</PresentationFormat>
  <Paragraphs>114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5" baseType="lpstr">
      <vt:lpstr>Inter SemiBold</vt:lpstr>
      <vt:lpstr>Calibri</vt:lpstr>
      <vt:lpstr>Outfit Black</vt:lpstr>
      <vt:lpstr>Arial</vt:lpstr>
      <vt:lpstr>Outfit</vt:lpstr>
      <vt:lpstr>Inter Black</vt:lpstr>
      <vt:lpstr>Inter</vt:lpstr>
      <vt:lpstr>Plus Jakarta Sans</vt:lpstr>
      <vt:lpstr>Outfit ExtraBold</vt:lpstr>
      <vt:lpstr>Poppins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Mattia Rizzi</dc:creator>
  <cp:lastModifiedBy>Simone Giagnorio</cp:lastModifiedBy>
  <cp:revision>16</cp:revision>
  <dcterms:modified xsi:type="dcterms:W3CDTF">2026-07-01T18:53:13Z</dcterms:modified>
</cp:coreProperties>
</file>
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Comfortaa" pitchFamily="2" charset="0"/>
      <p:regular r:id="rId17"/>
      <p:bold r:id="rId18"/>
    </p:embeddedFon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Medium" pitchFamily="2" charset="0"/>
      <p:regular r:id="rId23"/>
      <p:italic r:id="rId24"/>
    </p:embeddedFont>
    <p:embeddedFont>
      <p:font typeface="Plus Jakarta Sans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00F"/>
    <a:srgbClr val="5C270C"/>
    <a:srgbClr val="298D68"/>
    <a:srgbClr val="F5F5F0"/>
    <a:srgbClr val="FF5500"/>
    <a:srgbClr val="A5A5A5"/>
    <a:srgbClr val="C0C0C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>
        <p:scale>
          <a:sx n="75" d="100"/>
          <a:sy n="75" d="100"/>
        </p:scale>
        <p:origin x="1194" y="85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Montserrat" pitchFamily="2" charset="0"/>
        <a:ea typeface="Montserrat" pitchFamily="2" charset="0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5" name="Google Shape;2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0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just-burger-five.vercel.app/" TargetMode="Externa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3;p14" descr="image.png">
            <a:extLst>
              <a:ext uri="{FF2B5EF4-FFF2-40B4-BE49-F238E27FC236}">
                <a16:creationId xmlns:a16="http://schemas.microsoft.com/office/drawing/2014/main" id="{61F1A587-B5D3-4392-6962-679F814FC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7150" y="1809750"/>
            <a:ext cx="32385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0900" y="1333500"/>
            <a:ext cx="4191000" cy="419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D51E9BE-44ED-5C05-AA18-812E985106E1}"/>
              </a:ext>
            </a:extLst>
          </p:cNvPr>
          <p:cNvGrpSpPr/>
          <p:nvPr/>
        </p:nvGrpSpPr>
        <p:grpSpPr>
          <a:xfrm>
            <a:off x="800100" y="1962273"/>
            <a:ext cx="6182497" cy="2933451"/>
            <a:chOff x="935281" y="1983628"/>
            <a:chExt cx="6182497" cy="2933451"/>
          </a:xfrm>
        </p:grpSpPr>
        <p:sp>
          <p:nvSpPr>
            <p:cNvPr id="87" name="Google Shape;87;p13"/>
            <p:cNvSpPr txBox="1"/>
            <p:nvPr/>
          </p:nvSpPr>
          <p:spPr>
            <a:xfrm>
              <a:off x="935281" y="1983628"/>
              <a:ext cx="5567562" cy="7478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i="0" u="none" strike="noStrike" cap="none" dirty="0">
                  <a:solidFill>
                    <a:srgbClr val="F95707"/>
                  </a:solidFill>
                  <a:latin typeface="Comfortaa" pitchFamily="2" charset="0"/>
                  <a:ea typeface="Inter Black"/>
                  <a:cs typeface="Inter Black"/>
                  <a:sym typeface="Inter Black"/>
                </a:rPr>
                <a:t>JUST BURGERS</a:t>
              </a:r>
              <a:endParaRPr b="1" dirty="0">
                <a:latin typeface="Comfortaa" pitchFamily="2" charset="0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935281" y="2731525"/>
              <a:ext cx="2462522" cy="207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1" u="none" strike="noStrike" cap="none" dirty="0">
                  <a:solidFill>
                    <a:srgbClr val="F95707"/>
                  </a:solidFill>
                  <a:latin typeface="Montserrat" pitchFamily="2" charset="0"/>
                  <a:ea typeface="Inter SemiBold"/>
                  <a:cs typeface="Inter SemiBold"/>
                  <a:sym typeface="Inter SemiBold"/>
                </a:rPr>
                <a:t>CAMPAGNA PUBBLICITARIA</a:t>
              </a:r>
              <a:endParaRPr i="1" dirty="0">
                <a:latin typeface="Montserrat" pitchFamily="2" charset="0"/>
              </a:endParaRPr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935281" y="3429000"/>
              <a:ext cx="6182497" cy="1046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 dirty="0">
                  <a:solidFill>
                    <a:srgbClr val="FFFFFF"/>
                  </a:solidFill>
                  <a:latin typeface="Montserrat" pitchFamily="2" charset="0"/>
                  <a:ea typeface="Outfit ExtraBold"/>
                  <a:cs typeface="Outfit ExtraBold"/>
                  <a:sym typeface="Outfit ExtraBold"/>
                </a:rPr>
                <a:t>NUOVA ESPERIENZA MOBILE &amp; DELIVERY</a:t>
              </a:r>
              <a:endParaRPr sz="3400" dirty="0">
                <a:latin typeface="Montserrat" pitchFamily="2" charset="0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935281" y="4486192"/>
              <a:ext cx="49530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i="1" dirty="0">
                  <a:solidFill>
                    <a:srgbClr val="A5A5A5"/>
                  </a:solidFill>
                  <a:latin typeface="Montserrat" pitchFamily="2" charset="0"/>
                </a:rPr>
                <a:t>L’autenticità pura del chilometro zero incontra il design di un’esperienza moderna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D148C64-5FFF-FC4D-0385-CA36F307D6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6602" y="1949202"/>
            <a:ext cx="2959595" cy="2959595"/>
          </a:xfrm>
          <a:prstGeom prst="rect">
            <a:avLst/>
          </a:prstGeom>
        </p:spPr>
      </p:pic>
      <p:sp>
        <p:nvSpPr>
          <p:cNvPr id="11" name="Connettore 36">
            <a:extLst>
              <a:ext uri="{FF2B5EF4-FFF2-40B4-BE49-F238E27FC236}">
                <a16:creationId xmlns:a16="http://schemas.microsoft.com/office/drawing/2014/main" id="{79F1F8C4-A1D0-3269-FAFB-FBAF6120B118}"/>
              </a:ext>
            </a:extLst>
          </p:cNvPr>
          <p:cNvSpPr>
            <a:spLocks noChangeAspect="1"/>
          </p:cNvSpPr>
          <p:nvPr/>
        </p:nvSpPr>
        <p:spPr>
          <a:xfrm>
            <a:off x="-715856" y="1734979"/>
            <a:ext cx="403012" cy="403012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38">
            <a:extLst>
              <a:ext uri="{FF2B5EF4-FFF2-40B4-BE49-F238E27FC236}">
                <a16:creationId xmlns:a16="http://schemas.microsoft.com/office/drawing/2014/main" id="{4976D5C3-9ABE-F627-B651-40315C6165AF}"/>
              </a:ext>
            </a:extLst>
          </p:cNvPr>
          <p:cNvSpPr txBox="1"/>
          <p:nvPr/>
        </p:nvSpPr>
        <p:spPr>
          <a:xfrm flipH="1">
            <a:off x="-669925" y="1728629"/>
            <a:ext cx="323599" cy="461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1F0AA198-839D-4B11-557E-AF6093EFF7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C527B24-4675-8353-4EC5-F31B1B206E02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3667A0F1-0215-3BFC-1CE1-81895FCDE849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01F4AFB-4D94-790A-E166-D8E1D41E28FF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62EFDD7-08EF-705B-BD8F-35BAA9006559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32DAF54-BF82-1546-B8DC-CBC66273815D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FA41D4A-AFD9-9FC6-6D68-D19DD6015372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2FDD36D-4FDF-5CF0-BD41-617641F85008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4" name="!!1a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882229"/>
            <a:ext cx="3397299" cy="29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!!1b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1882230"/>
            <a:ext cx="3397299" cy="29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!!1c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24" y="1882230"/>
            <a:ext cx="3397299" cy="29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652" y="3120081"/>
            <a:ext cx="2877065" cy="15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699" y="3120081"/>
            <a:ext cx="2806749" cy="15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18599" y="3120081"/>
            <a:ext cx="2806749" cy="15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!!titolo"/>
          <p:cNvSpPr txBox="1"/>
          <p:nvPr/>
        </p:nvSpPr>
        <p:spPr>
          <a:xfrm>
            <a:off x="848767" y="568884"/>
            <a:ext cx="422805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cs typeface="Poppins"/>
                <a:sym typeface="Poppins"/>
              </a:rPr>
              <a:t>IL TEAM</a:t>
            </a:r>
            <a:endParaRPr sz="3200" b="1" dirty="0">
              <a:latin typeface="Comfortaa" pitchFamily="2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66800" y="2768054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mfortaa" pitchFamily="2" charset="0"/>
                <a:cs typeface="Poppins"/>
                <a:sym typeface="Poppins"/>
              </a:rPr>
              <a:t>Logica</a:t>
            </a:r>
            <a:endParaRPr dirty="0">
              <a:latin typeface="Montserrat" pitchFamily="2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692699" y="2768054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Comfortaa" pitchFamily="2" charset="0"/>
                <a:ea typeface="Poppins"/>
                <a:cs typeface="Poppins"/>
                <a:sym typeface="Poppins"/>
              </a:rPr>
              <a:t>Design</a:t>
            </a:r>
            <a:endParaRPr dirty="0">
              <a:latin typeface="Montserrat" pitchFamily="2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318599" y="2768054"/>
            <a:ext cx="294708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Comfortaa" pitchFamily="2" charset="0"/>
                <a:ea typeface="Poppins"/>
                <a:cs typeface="Poppins"/>
                <a:sym typeface="Poppins"/>
              </a:rPr>
              <a:t>Software</a:t>
            </a:r>
            <a:endParaRPr dirty="0">
              <a:latin typeface="Montserrat" pitchFamily="2" charset="0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346517" y="3325121"/>
            <a:ext cx="23876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800" dirty="0">
                <a:solidFill>
                  <a:srgbClr val="298D68"/>
                </a:solidFill>
                <a:latin typeface="Montserrat" pitchFamily="2" charset="0"/>
              </a:rPr>
              <a:t>Modello di Business</a:t>
            </a:r>
          </a:p>
        </p:txBody>
      </p:sp>
      <p:sp>
        <p:nvSpPr>
          <p:cNvPr id="112" name="Google Shape;112;p14"/>
          <p:cNvSpPr txBox="1"/>
          <p:nvPr/>
        </p:nvSpPr>
        <p:spPr>
          <a:xfrm>
            <a:off x="1346518" y="3717043"/>
            <a:ext cx="238764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0000"/>
              </a:lnSpc>
              <a:buNone/>
              <a:defRPr>
                <a:solidFill>
                  <a:srgbClr val="F5F5F0"/>
                </a:solidFill>
                <a:latin typeface="Montserrat Medium" pitchFamily="2" charset="0"/>
                <a:cs typeface="Plus Jakarta Sans"/>
              </a:defRPr>
            </a:lvl1pPr>
          </a:lstStyle>
          <a:p>
            <a:r>
              <a:rPr lang="en-US" dirty="0">
                <a:sym typeface="Plus Jakarta Sans"/>
              </a:rPr>
              <a:t>Giagnorio Simone</a:t>
            </a:r>
          </a:p>
          <a:p>
            <a:r>
              <a:rPr lang="en-US" dirty="0">
                <a:sym typeface="Plus Jakarta Sans"/>
              </a:rPr>
              <a:t>Rizzi Mattia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4912724" y="3325121"/>
            <a:ext cx="25070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800" dirty="0">
                <a:solidFill>
                  <a:srgbClr val="298D68"/>
                </a:solidFill>
                <a:latin typeface="Montserrat" pitchFamily="2" charset="0"/>
              </a:rPr>
              <a:t>User Experience &amp; UI</a:t>
            </a:r>
          </a:p>
        </p:txBody>
      </p:sp>
      <p:sp>
        <p:nvSpPr>
          <p:cNvPr id="121" name="Google Shape;121;p14"/>
          <p:cNvSpPr txBox="1"/>
          <p:nvPr/>
        </p:nvSpPr>
        <p:spPr>
          <a:xfrm>
            <a:off x="8538625" y="3327659"/>
            <a:ext cx="25070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800" dirty="0">
                <a:solidFill>
                  <a:srgbClr val="298D68"/>
                </a:solidFill>
                <a:latin typeface="Montserrat" pitchFamily="2" charset="0"/>
              </a:rPr>
              <a:t>Tech &amp; Automazione</a:t>
            </a:r>
          </a:p>
        </p:txBody>
      </p:sp>
      <p:sp>
        <p:nvSpPr>
          <p:cNvPr id="122" name="Google Shape;122;p14"/>
          <p:cNvSpPr txBox="1"/>
          <p:nvPr/>
        </p:nvSpPr>
        <p:spPr>
          <a:xfrm>
            <a:off x="8598317" y="3717043"/>
            <a:ext cx="238764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5F5F0"/>
                </a:solidFill>
                <a:latin typeface="Montserrat Medium" pitchFamily="2" charset="0"/>
                <a:cs typeface="Plus Jakarta Sans"/>
              </a:rPr>
              <a:t>Archetti</a:t>
            </a:r>
            <a:r>
              <a:rPr lang="it-IT" dirty="0">
                <a:solidFill>
                  <a:srgbClr val="F5F5F0"/>
                </a:solidFill>
                <a:latin typeface="Montserrat" pitchFamily="2" charset="0"/>
              </a:rPr>
              <a:t> </a:t>
            </a:r>
            <a:r>
              <a:rPr lang="it-IT" dirty="0">
                <a:solidFill>
                  <a:srgbClr val="F5F5F0"/>
                </a:solidFill>
                <a:latin typeface="Montserrat Medium" pitchFamily="2" charset="0"/>
                <a:cs typeface="Plus Jakarta Sans"/>
              </a:rPr>
              <a:t>Giacomo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5F5F0"/>
                </a:solidFill>
                <a:latin typeface="Montserrat Medium" pitchFamily="2" charset="0"/>
                <a:cs typeface="Plus Jakarta Sans"/>
              </a:rPr>
              <a:t>Barbieri</a:t>
            </a:r>
            <a:r>
              <a:rPr lang="it-IT" dirty="0">
                <a:solidFill>
                  <a:srgbClr val="F5F5F0"/>
                </a:solidFill>
                <a:latin typeface="Montserrat" pitchFamily="2" charset="0"/>
              </a:rPr>
              <a:t> </a:t>
            </a:r>
            <a:r>
              <a:rPr lang="it-IT" dirty="0">
                <a:solidFill>
                  <a:srgbClr val="F5F5F0"/>
                </a:solidFill>
                <a:latin typeface="Montserrat Medium" pitchFamily="2" charset="0"/>
                <a:cs typeface="Plus Jakarta Sans"/>
              </a:rPr>
              <a:t>Andrea</a:t>
            </a:r>
            <a:endParaRPr dirty="0">
              <a:solidFill>
                <a:srgbClr val="F5F5F0"/>
              </a:solidFill>
              <a:latin typeface="Montserrat Medium" pitchFamily="2" charset="0"/>
              <a:cs typeface="Plus Jakarta Sans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FECD8A9-7191-A628-3485-E6125C056B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3228" y="2037706"/>
            <a:ext cx="660220" cy="64957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122A590-749E-B9CE-1807-24F69DDCE4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2037706"/>
            <a:ext cx="616027" cy="63656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58CF374-3D6A-0DCE-FA29-AA9C7D2EAD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2699" y="2037706"/>
            <a:ext cx="728817" cy="686444"/>
          </a:xfrm>
          <a:prstGeom prst="rect">
            <a:avLst/>
          </a:prstGeom>
        </p:spPr>
      </p:pic>
      <p:pic>
        <p:nvPicPr>
          <p:cNvPr id="15" name="!!1d" descr="image.png">
            <a:extLst>
              <a:ext uri="{FF2B5EF4-FFF2-40B4-BE49-F238E27FC236}">
                <a16:creationId xmlns:a16="http://schemas.microsoft.com/office/drawing/2014/main" id="{0CD005D4-42F0-85CC-78F9-4527624F25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313" y="5219308"/>
            <a:ext cx="10649098" cy="144098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E1D9BEB-9653-CFB3-4F5F-A99D2FF14030}"/>
              </a:ext>
            </a:extLst>
          </p:cNvPr>
          <p:cNvSpPr txBox="1"/>
          <p:nvPr/>
        </p:nvSpPr>
        <p:spPr>
          <a:xfrm>
            <a:off x="2135586" y="5551502"/>
            <a:ext cx="7920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latin typeface="Montserrat" pitchFamily="2" charset="0"/>
            </a:endParaRPr>
          </a:p>
        </p:txBody>
      </p:sp>
      <p:pic>
        <p:nvPicPr>
          <p:cNvPr id="22" name="Google Shape;100;p14" descr="image.png">
            <a:extLst>
              <a:ext uri="{FF2B5EF4-FFF2-40B4-BE49-F238E27FC236}">
                <a16:creationId xmlns:a16="http://schemas.microsoft.com/office/drawing/2014/main" id="{79070F3F-982D-5985-DA57-D5CED4069EC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13887" y="5403011"/>
            <a:ext cx="4374882" cy="107282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AD0766E-E4A0-CA50-1483-B68F3662B3E8}"/>
              </a:ext>
            </a:extLst>
          </p:cNvPr>
          <p:cNvSpPr txBox="1"/>
          <p:nvPr/>
        </p:nvSpPr>
        <p:spPr>
          <a:xfrm>
            <a:off x="724909" y="5517155"/>
            <a:ext cx="10630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it-IT" sz="1800" dirty="0">
                <a:solidFill>
                  <a:srgbClr val="298D68"/>
                </a:solidFill>
                <a:latin typeface="Montserrat" pitchFamily="2" charset="0"/>
              </a:rPr>
              <a:t>Project lead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E4757D6-0C22-29FF-C73E-4777D7482389}"/>
              </a:ext>
            </a:extLst>
          </p:cNvPr>
          <p:cNvSpPr txBox="1"/>
          <p:nvPr/>
        </p:nvSpPr>
        <p:spPr>
          <a:xfrm>
            <a:off x="780441" y="5981605"/>
            <a:ext cx="10630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it-IT" sz="1600" dirty="0">
                <a:solidFill>
                  <a:srgbClr val="F5F5F0"/>
                </a:solidFill>
                <a:latin typeface="Montserrat" pitchFamily="2" charset="0"/>
              </a:rPr>
              <a:t>Camoirano Alberto</a:t>
            </a:r>
          </a:p>
        </p:txBody>
      </p:sp>
      <p:sp>
        <p:nvSpPr>
          <p:cNvPr id="8" name="Google Shape;104;p14">
            <a:extLst>
              <a:ext uri="{FF2B5EF4-FFF2-40B4-BE49-F238E27FC236}">
                <a16:creationId xmlns:a16="http://schemas.microsoft.com/office/drawing/2014/main" id="{63479ED1-5BE3-881B-0A01-7DD175F3260D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2;p14">
            <a:extLst>
              <a:ext uri="{FF2B5EF4-FFF2-40B4-BE49-F238E27FC236}">
                <a16:creationId xmlns:a16="http://schemas.microsoft.com/office/drawing/2014/main" id="{5A3C2122-9D84-650E-7519-D4AA3B90B858}"/>
              </a:ext>
            </a:extLst>
          </p:cNvPr>
          <p:cNvSpPr txBox="1"/>
          <p:nvPr/>
        </p:nvSpPr>
        <p:spPr>
          <a:xfrm>
            <a:off x="4972416" y="3723315"/>
            <a:ext cx="238764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0000"/>
              </a:lnSpc>
              <a:buNone/>
              <a:defRPr>
                <a:solidFill>
                  <a:srgbClr val="F5F5F0"/>
                </a:solidFill>
                <a:latin typeface="Montserrat Medium" pitchFamily="2" charset="0"/>
                <a:cs typeface="Plus Jakarta Sans"/>
              </a:defRPr>
            </a:lvl1pPr>
          </a:lstStyle>
          <a:p>
            <a:r>
              <a:rPr lang="it-IT" dirty="0"/>
              <a:t>Balaban Giulia</a:t>
            </a:r>
          </a:p>
          <a:p>
            <a:r>
              <a:rPr lang="it-IT" dirty="0"/>
              <a:t>Torre Francesco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0364EB-26BF-0744-0569-5597AA45287C}"/>
              </a:ext>
            </a:extLst>
          </p:cNvPr>
          <p:cNvSpPr txBox="1"/>
          <p:nvPr/>
        </p:nvSpPr>
        <p:spPr>
          <a:xfrm>
            <a:off x="920725" y="1515847"/>
            <a:ext cx="291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it-IT" dirty="0"/>
          </a:p>
        </p:txBody>
      </p:sp>
      <p:grpSp>
        <p:nvGrpSpPr>
          <p:cNvPr id="38" name="Gruppo 35">
            <a:extLst>
              <a:ext uri="{FF2B5EF4-FFF2-40B4-BE49-F238E27FC236}">
                <a16:creationId xmlns:a16="http://schemas.microsoft.com/office/drawing/2014/main" id="{5687B13D-E630-D7A3-AC78-FFA0B84CDD18}"/>
              </a:ext>
            </a:extLst>
          </p:cNvPr>
          <p:cNvGrpSpPr/>
          <p:nvPr/>
        </p:nvGrpSpPr>
        <p:grpSpPr>
          <a:xfrm>
            <a:off x="-690456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39" name="Connettore 36">
              <a:extLst>
                <a:ext uri="{FF2B5EF4-FFF2-40B4-BE49-F238E27FC236}">
                  <a16:creationId xmlns:a16="http://schemas.microsoft.com/office/drawing/2014/main" id="{D5F71952-8E98-1A7A-F11C-689C201E17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0" name="CasellaDiTesto 38">
              <a:extLst>
                <a:ext uri="{FF2B5EF4-FFF2-40B4-BE49-F238E27FC236}">
                  <a16:creationId xmlns:a16="http://schemas.microsoft.com/office/drawing/2014/main" id="{23F7383B-CC67-35C8-37E6-CF7E28B1A926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42" name="Gruppo 35">
            <a:extLst>
              <a:ext uri="{FF2B5EF4-FFF2-40B4-BE49-F238E27FC236}">
                <a16:creationId xmlns:a16="http://schemas.microsoft.com/office/drawing/2014/main" id="{9C570DC3-7073-DC3A-E741-C02C0F4171AD}"/>
              </a:ext>
            </a:extLst>
          </p:cNvPr>
          <p:cNvGrpSpPr/>
          <p:nvPr/>
        </p:nvGrpSpPr>
        <p:grpSpPr>
          <a:xfrm>
            <a:off x="-695219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43" name="Connettore 36">
              <a:extLst>
                <a:ext uri="{FF2B5EF4-FFF2-40B4-BE49-F238E27FC236}">
                  <a16:creationId xmlns:a16="http://schemas.microsoft.com/office/drawing/2014/main" id="{7BA05D31-43E1-625C-EC93-5938387E5F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4" name="CasellaDiTesto 38">
              <a:extLst>
                <a:ext uri="{FF2B5EF4-FFF2-40B4-BE49-F238E27FC236}">
                  <a16:creationId xmlns:a16="http://schemas.microsoft.com/office/drawing/2014/main" id="{EECEF650-F777-9D07-8C5F-277D2A45ECA7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45" name="Gruppo 35">
            <a:extLst>
              <a:ext uri="{FF2B5EF4-FFF2-40B4-BE49-F238E27FC236}">
                <a16:creationId xmlns:a16="http://schemas.microsoft.com/office/drawing/2014/main" id="{C9A04C83-7A3E-EB61-BB5B-346F04D2E2BD}"/>
              </a:ext>
            </a:extLst>
          </p:cNvPr>
          <p:cNvGrpSpPr/>
          <p:nvPr/>
        </p:nvGrpSpPr>
        <p:grpSpPr>
          <a:xfrm>
            <a:off x="-69521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46" name="Connettore 36">
              <a:extLst>
                <a:ext uri="{FF2B5EF4-FFF2-40B4-BE49-F238E27FC236}">
                  <a16:creationId xmlns:a16="http://schemas.microsoft.com/office/drawing/2014/main" id="{8A40CF6A-9C4B-9545-975C-1D173609E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7" name="CasellaDiTesto 38">
              <a:extLst>
                <a:ext uri="{FF2B5EF4-FFF2-40B4-BE49-F238E27FC236}">
                  <a16:creationId xmlns:a16="http://schemas.microsoft.com/office/drawing/2014/main" id="{06E1F441-DF1F-9862-D246-87C25B838294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48" name="Gruppo 35">
            <a:extLst>
              <a:ext uri="{FF2B5EF4-FFF2-40B4-BE49-F238E27FC236}">
                <a16:creationId xmlns:a16="http://schemas.microsoft.com/office/drawing/2014/main" id="{E2E837CB-E774-BA00-10DD-A496AEDB1F1D}"/>
              </a:ext>
            </a:extLst>
          </p:cNvPr>
          <p:cNvGrpSpPr/>
          <p:nvPr/>
        </p:nvGrpSpPr>
        <p:grpSpPr>
          <a:xfrm>
            <a:off x="-699982" y="4156913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49" name="Connettore 36">
              <a:extLst>
                <a:ext uri="{FF2B5EF4-FFF2-40B4-BE49-F238E27FC236}">
                  <a16:creationId xmlns:a16="http://schemas.microsoft.com/office/drawing/2014/main" id="{D26BE875-9E06-68B2-3E27-DA3064793F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0" name="CasellaDiTesto 38">
              <a:extLst>
                <a:ext uri="{FF2B5EF4-FFF2-40B4-BE49-F238E27FC236}">
                  <a16:creationId xmlns:a16="http://schemas.microsoft.com/office/drawing/2014/main" id="{788DDF2B-560B-A095-1E26-9FFE962F7111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51" name="Gruppo 35">
            <a:extLst>
              <a:ext uri="{FF2B5EF4-FFF2-40B4-BE49-F238E27FC236}">
                <a16:creationId xmlns:a16="http://schemas.microsoft.com/office/drawing/2014/main" id="{C085FF9F-CDDD-B015-7C40-6DD8CA115B3C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52" name="Connettore 36">
              <a:extLst>
                <a:ext uri="{FF2B5EF4-FFF2-40B4-BE49-F238E27FC236}">
                  <a16:creationId xmlns:a16="http://schemas.microsoft.com/office/drawing/2014/main" id="{C916AB9F-8E99-87DF-FCC4-8376DD4457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3" name="CasellaDiTesto 38">
              <a:extLst>
                <a:ext uri="{FF2B5EF4-FFF2-40B4-BE49-F238E27FC236}">
                  <a16:creationId xmlns:a16="http://schemas.microsoft.com/office/drawing/2014/main" id="{1B960606-1BB6-4DF4-8235-F478B3EF27B2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033EB35-E145-AF18-C789-0F43AC6DFAD5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0291DC6-8FBB-89CF-F4DE-B202AB93903F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Connettore 36">
            <a:extLst>
              <a:ext uri="{FF2B5EF4-FFF2-40B4-BE49-F238E27FC236}">
                <a16:creationId xmlns:a16="http://schemas.microsoft.com/office/drawing/2014/main" id="{E8265454-F208-E704-CFB7-189F5DFCACAE}"/>
              </a:ext>
            </a:extLst>
          </p:cNvPr>
          <p:cNvSpPr>
            <a:spLocks noChangeAspect="1"/>
          </p:cNvSpPr>
          <p:nvPr/>
        </p:nvSpPr>
        <p:spPr>
          <a:xfrm>
            <a:off x="160444" y="1734979"/>
            <a:ext cx="403012" cy="403012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8">
            <a:extLst>
              <a:ext uri="{FF2B5EF4-FFF2-40B4-BE49-F238E27FC236}">
                <a16:creationId xmlns:a16="http://schemas.microsoft.com/office/drawing/2014/main" id="{38D3146B-19F2-C89B-40F2-E3C704A5ABD3}"/>
              </a:ext>
            </a:extLst>
          </p:cNvPr>
          <p:cNvSpPr txBox="1"/>
          <p:nvPr/>
        </p:nvSpPr>
        <p:spPr>
          <a:xfrm flipH="1">
            <a:off x="206375" y="1728629"/>
            <a:ext cx="323599" cy="461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823921E4-3848-21C2-EA7A-A8EE45AB9E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Oval 68">
            <a:extLst>
              <a:ext uri="{FF2B5EF4-FFF2-40B4-BE49-F238E27FC236}">
                <a16:creationId xmlns:a16="http://schemas.microsoft.com/office/drawing/2014/main" id="{3948090D-BD5A-CB6E-FC10-9BC6894BD956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255E208-DB5C-AE1B-D6ED-B7D843655A49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!!titolo">
            <a:extLst>
              <a:ext uri="{FF2B5EF4-FFF2-40B4-BE49-F238E27FC236}">
                <a16:creationId xmlns:a16="http://schemas.microsoft.com/office/drawing/2014/main" id="{95E0F166-6FF6-4805-1985-F9AC1A68B8CB}"/>
              </a:ext>
            </a:extLst>
          </p:cNvPr>
          <p:cNvSpPr txBox="1"/>
          <p:nvPr/>
        </p:nvSpPr>
        <p:spPr>
          <a:xfrm>
            <a:off x="848767" y="568884"/>
            <a:ext cx="544851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Poppins"/>
                <a:cs typeface="Poppins"/>
                <a:sym typeface="Poppins"/>
              </a:rPr>
              <a:t>FRAMEWORK OPERATIVO</a:t>
            </a:r>
            <a:endParaRPr lang="en-US" sz="3200" dirty="0">
              <a:latin typeface="Montserrat" pitchFamily="2" charset="0"/>
            </a:endParaRPr>
          </a:p>
        </p:txBody>
      </p:sp>
      <p:sp>
        <p:nvSpPr>
          <p:cNvPr id="8" name="Google Shape;104;p14">
            <a:extLst>
              <a:ext uri="{FF2B5EF4-FFF2-40B4-BE49-F238E27FC236}">
                <a16:creationId xmlns:a16="http://schemas.microsoft.com/office/drawing/2014/main" id="{7D20C10B-CDD9-2C5F-34CB-F5D48A984208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2a" descr="!image.png">
            <a:extLst>
              <a:ext uri="{FF2B5EF4-FFF2-40B4-BE49-F238E27FC236}">
                <a16:creationId xmlns:a16="http://schemas.microsoft.com/office/drawing/2014/main" id="{DA8B5D4E-4196-F3B8-CFBA-CEE6CA6519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882229"/>
            <a:ext cx="3397299" cy="2998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2D72B25-4CFE-3AC9-709D-53A9DBB81DA9}"/>
              </a:ext>
            </a:extLst>
          </p:cNvPr>
          <p:cNvGrpSpPr/>
          <p:nvPr/>
        </p:nvGrpSpPr>
        <p:grpSpPr>
          <a:xfrm>
            <a:off x="1091879" y="2524949"/>
            <a:ext cx="3031852" cy="1729909"/>
            <a:chOff x="993373" y="2307001"/>
            <a:chExt cx="3031852" cy="1729909"/>
          </a:xfrm>
        </p:grpSpPr>
        <p:sp>
          <p:nvSpPr>
            <p:cNvPr id="10" name="Google Shape;133;p15"/>
            <p:cNvSpPr txBox="1"/>
            <p:nvPr/>
          </p:nvSpPr>
          <p:spPr>
            <a:xfrm>
              <a:off x="993373" y="2307001"/>
              <a:ext cx="3031852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298D68"/>
                  </a:solidFill>
                  <a:latin typeface="Comfortaa" pitchFamily="2" charset="0"/>
                  <a:ea typeface="Poppins"/>
                  <a:cs typeface="Poppins"/>
                  <a:sym typeface="Poppins"/>
                </a:rPr>
                <a:t>Roadmap Synchronization</a:t>
              </a:r>
              <a:endParaRPr sz="1800" dirty="0">
                <a:solidFill>
                  <a:srgbClr val="298D68"/>
                </a:solidFill>
                <a:latin typeface="Montserrat" pitchFamily="2" charset="0"/>
              </a:endParaRPr>
            </a:p>
          </p:txBody>
        </p:sp>
        <p:sp>
          <p:nvSpPr>
            <p:cNvPr id="11" name="Google Shape;134;p15"/>
            <p:cNvSpPr txBox="1"/>
            <p:nvPr/>
          </p:nvSpPr>
          <p:spPr>
            <a:xfrm>
              <a:off x="993374" y="2841161"/>
              <a:ext cx="2806749" cy="258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050" b="1" i="1" dirty="0">
                  <a:solidFill>
                    <a:srgbClr val="F5F5F0"/>
                  </a:solidFill>
                  <a:latin typeface="Montserrat" pitchFamily="2" charset="0"/>
                </a:rPr>
                <a:t>SINCRONIZZAZIONE STRATEGICA</a:t>
              </a:r>
              <a:endParaRPr sz="1050" b="1" i="1" dirty="0">
                <a:solidFill>
                  <a:srgbClr val="F5F5F0"/>
                </a:solidFill>
                <a:latin typeface="Montserrat" pitchFamily="2" charset="0"/>
              </a:endParaRPr>
            </a:p>
          </p:txBody>
        </p:sp>
        <p:sp>
          <p:nvSpPr>
            <p:cNvPr id="12" name="Google Shape;135;p15"/>
            <p:cNvSpPr txBox="1"/>
            <p:nvPr/>
          </p:nvSpPr>
          <p:spPr>
            <a:xfrm>
              <a:off x="993373" y="3298246"/>
              <a:ext cx="280674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</a:rPr>
                <a:t>Allineamento totale tra obiettivi di business, design e sviluppo per garantire una visione condivisa e priorità chiare</a:t>
              </a:r>
              <a:endParaRPr sz="1200" dirty="0">
                <a:solidFill>
                  <a:srgbClr val="A5A5A5"/>
                </a:solidFill>
                <a:latin typeface="Montserrat" pitchFamily="2" charset="0"/>
              </a:endParaRPr>
            </a:p>
          </p:txBody>
        </p:sp>
      </p:grpSp>
      <p:pic>
        <p:nvPicPr>
          <p:cNvPr id="21" name="2a" descr="!image.png">
            <a:extLst>
              <a:ext uri="{FF2B5EF4-FFF2-40B4-BE49-F238E27FC236}">
                <a16:creationId xmlns:a16="http://schemas.microsoft.com/office/drawing/2014/main" id="{0E3DAC5C-4C31-5510-F23F-67571A59E1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7350" y="1882229"/>
            <a:ext cx="3397299" cy="2998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E13E588-1CFF-E72E-4E42-725AA77154A5}"/>
              </a:ext>
            </a:extLst>
          </p:cNvPr>
          <p:cNvGrpSpPr/>
          <p:nvPr/>
        </p:nvGrpSpPr>
        <p:grpSpPr>
          <a:xfrm>
            <a:off x="4708178" y="2524949"/>
            <a:ext cx="2806750" cy="1729909"/>
            <a:chOff x="993372" y="2307001"/>
            <a:chExt cx="2806750" cy="1729909"/>
          </a:xfrm>
        </p:grpSpPr>
        <p:sp>
          <p:nvSpPr>
            <p:cNvPr id="23" name="Google Shape;133;p15">
              <a:extLst>
                <a:ext uri="{FF2B5EF4-FFF2-40B4-BE49-F238E27FC236}">
                  <a16:creationId xmlns:a16="http://schemas.microsoft.com/office/drawing/2014/main" id="{0875D96E-692A-E275-EA37-4BB662E165DF}"/>
                </a:ext>
              </a:extLst>
            </p:cNvPr>
            <p:cNvSpPr txBox="1"/>
            <p:nvPr/>
          </p:nvSpPr>
          <p:spPr>
            <a:xfrm>
              <a:off x="993372" y="2307001"/>
              <a:ext cx="2359371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800" b="1" dirty="0">
                  <a:solidFill>
                    <a:srgbClr val="298D68"/>
                  </a:solidFill>
                  <a:latin typeface="Comfortaa" pitchFamily="2" charset="0"/>
                </a:rPr>
                <a:t>Sprint </a:t>
              </a:r>
            </a:p>
            <a:p>
              <a:pPr fontAlgn="base"/>
              <a:r>
                <a:rPr lang="it-IT" sz="1800" b="1" dirty="0">
                  <a:solidFill>
                    <a:srgbClr val="298D68"/>
                  </a:solidFill>
                  <a:latin typeface="Comfortaa" pitchFamily="2" charset="0"/>
                </a:rPr>
                <a:t>Execution</a:t>
              </a:r>
            </a:p>
          </p:txBody>
        </p:sp>
        <p:sp>
          <p:nvSpPr>
            <p:cNvPr id="24" name="Google Shape;134;p15">
              <a:extLst>
                <a:ext uri="{FF2B5EF4-FFF2-40B4-BE49-F238E27FC236}">
                  <a16:creationId xmlns:a16="http://schemas.microsoft.com/office/drawing/2014/main" id="{DC2215E5-F7EC-ADCE-B6CE-94D5C7BB1625}"/>
                </a:ext>
              </a:extLst>
            </p:cNvPr>
            <p:cNvSpPr txBox="1"/>
            <p:nvPr/>
          </p:nvSpPr>
          <p:spPr>
            <a:xfrm>
              <a:off x="993373" y="2894619"/>
              <a:ext cx="280674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050" b="1" i="1" dirty="0">
                  <a:solidFill>
                    <a:srgbClr val="F5F5F0"/>
                  </a:solidFill>
                  <a:latin typeface="Montserrat" pitchFamily="2" charset="0"/>
                </a:rPr>
                <a:t>ESECUZIONE AGILE</a:t>
              </a:r>
            </a:p>
          </p:txBody>
        </p:sp>
        <p:sp>
          <p:nvSpPr>
            <p:cNvPr id="25" name="Google Shape;135;p15">
              <a:extLst>
                <a:ext uri="{FF2B5EF4-FFF2-40B4-BE49-F238E27FC236}">
                  <a16:creationId xmlns:a16="http://schemas.microsoft.com/office/drawing/2014/main" id="{EA0F6608-BF2F-7C05-05DC-6E800BFEADEF}"/>
                </a:ext>
              </a:extLst>
            </p:cNvPr>
            <p:cNvSpPr txBox="1"/>
            <p:nvPr/>
          </p:nvSpPr>
          <p:spPr>
            <a:xfrm>
              <a:off x="993373" y="3298246"/>
              <a:ext cx="280674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</a:rPr>
                <a:t>Cicli di lavoro brevi e focalizzati per trasformare le priorità in soluzioni concrete, mantenendo alta la produttività.</a:t>
              </a:r>
            </a:p>
          </p:txBody>
        </p:sp>
      </p:grpSp>
      <p:pic>
        <p:nvPicPr>
          <p:cNvPr id="26" name="2a" descr="!image.png">
            <a:extLst>
              <a:ext uri="{FF2B5EF4-FFF2-40B4-BE49-F238E27FC236}">
                <a16:creationId xmlns:a16="http://schemas.microsoft.com/office/drawing/2014/main" id="{15157373-C387-7C05-0440-053D2ADD5D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3176" y="1882229"/>
            <a:ext cx="3397299" cy="2998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352D226-C1E1-F538-5D6B-E533ED10FD05}"/>
              </a:ext>
            </a:extLst>
          </p:cNvPr>
          <p:cNvGrpSpPr/>
          <p:nvPr/>
        </p:nvGrpSpPr>
        <p:grpSpPr>
          <a:xfrm>
            <a:off x="8343529" y="2524949"/>
            <a:ext cx="2806750" cy="1729909"/>
            <a:chOff x="993372" y="2307001"/>
            <a:chExt cx="2806750" cy="1729909"/>
          </a:xfrm>
        </p:grpSpPr>
        <p:sp>
          <p:nvSpPr>
            <p:cNvPr id="28" name="Google Shape;133;p15">
              <a:extLst>
                <a:ext uri="{FF2B5EF4-FFF2-40B4-BE49-F238E27FC236}">
                  <a16:creationId xmlns:a16="http://schemas.microsoft.com/office/drawing/2014/main" id="{D733B5EE-7D82-CB92-DE30-2DC6065A7F58}"/>
                </a:ext>
              </a:extLst>
            </p:cNvPr>
            <p:cNvSpPr txBox="1"/>
            <p:nvPr/>
          </p:nvSpPr>
          <p:spPr>
            <a:xfrm>
              <a:off x="993373" y="2307001"/>
              <a:ext cx="221969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800" b="1" dirty="0">
                  <a:solidFill>
                    <a:srgbClr val="298D68"/>
                  </a:solidFill>
                  <a:latin typeface="Comfortaa" pitchFamily="2" charset="0"/>
                </a:rPr>
                <a:t>Iterative Validation</a:t>
              </a:r>
            </a:p>
          </p:txBody>
        </p:sp>
        <p:sp>
          <p:nvSpPr>
            <p:cNvPr id="29" name="Google Shape;134;p15">
              <a:extLst>
                <a:ext uri="{FF2B5EF4-FFF2-40B4-BE49-F238E27FC236}">
                  <a16:creationId xmlns:a16="http://schemas.microsoft.com/office/drawing/2014/main" id="{127EF48D-ED41-827D-31D8-8EFCD7CC5C4A}"/>
                </a:ext>
              </a:extLst>
            </p:cNvPr>
            <p:cNvSpPr txBox="1"/>
            <p:nvPr/>
          </p:nvSpPr>
          <p:spPr>
            <a:xfrm>
              <a:off x="993372" y="2894619"/>
              <a:ext cx="2806749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050" b="1" i="1" dirty="0">
                  <a:solidFill>
                    <a:srgbClr val="F5F5F0"/>
                  </a:solidFill>
                  <a:latin typeface="Montserrat" pitchFamily="2" charset="0"/>
                </a:rPr>
                <a:t>VALIDAZIONE ITERATIVA</a:t>
              </a:r>
            </a:p>
          </p:txBody>
        </p:sp>
        <p:sp>
          <p:nvSpPr>
            <p:cNvPr id="30" name="Google Shape;135;p15">
              <a:extLst>
                <a:ext uri="{FF2B5EF4-FFF2-40B4-BE49-F238E27FC236}">
                  <a16:creationId xmlns:a16="http://schemas.microsoft.com/office/drawing/2014/main" id="{375D9333-AC5A-ED11-2F0E-C457C22519A6}"/>
                </a:ext>
              </a:extLst>
            </p:cNvPr>
            <p:cNvSpPr txBox="1"/>
            <p:nvPr/>
          </p:nvSpPr>
          <p:spPr>
            <a:xfrm>
              <a:off x="993373" y="3298246"/>
              <a:ext cx="280674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fontAlgn="base"/>
              <a:r>
                <a:rPr lang="it-IT" sz="1200" dirty="0">
                  <a:solidFill>
                    <a:srgbClr val="A5A5A5"/>
                  </a:solidFill>
                  <a:latin typeface="Montserrat" pitchFamily="2" charset="0"/>
                </a:rPr>
                <a:t>Test e revisione continua del prodotto basati su feedback reali e dati, per ottimizzare costantemente i risultati.</a:t>
              </a:r>
            </a:p>
          </p:txBody>
        </p:sp>
      </p:grpSp>
      <p:sp>
        <p:nvSpPr>
          <p:cNvPr id="42" name="Arc 41">
            <a:extLst>
              <a:ext uri="{FF2B5EF4-FFF2-40B4-BE49-F238E27FC236}">
                <a16:creationId xmlns:a16="http://schemas.microsoft.com/office/drawing/2014/main" id="{3719FF34-1C98-BD31-7D9F-FF411A8757D2}"/>
              </a:ext>
            </a:extLst>
          </p:cNvPr>
          <p:cNvSpPr/>
          <p:nvPr/>
        </p:nvSpPr>
        <p:spPr>
          <a:xfrm rot="8100000">
            <a:off x="2768227" y="2503279"/>
            <a:ext cx="2998689" cy="2998689"/>
          </a:xfrm>
          <a:prstGeom prst="arc">
            <a:avLst>
              <a:gd name="adj1" fmla="val 16221388"/>
              <a:gd name="adj2" fmla="val 0"/>
            </a:avLst>
          </a:prstGeom>
          <a:ln w="38100">
            <a:solidFill>
              <a:srgbClr val="298D68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B0079B7E-27D6-F362-B44C-F05162AA84E9}"/>
              </a:ext>
            </a:extLst>
          </p:cNvPr>
          <p:cNvSpPr/>
          <p:nvPr/>
        </p:nvSpPr>
        <p:spPr>
          <a:xfrm rot="8100000">
            <a:off x="6388320" y="2503279"/>
            <a:ext cx="2998689" cy="2998689"/>
          </a:xfrm>
          <a:prstGeom prst="arc">
            <a:avLst>
              <a:gd name="adj1" fmla="val 16221388"/>
              <a:gd name="adj2" fmla="val 0"/>
            </a:avLst>
          </a:prstGeom>
          <a:ln w="38100">
            <a:solidFill>
              <a:srgbClr val="298D68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7" name="Gruppo 35">
            <a:extLst>
              <a:ext uri="{FF2B5EF4-FFF2-40B4-BE49-F238E27FC236}">
                <a16:creationId xmlns:a16="http://schemas.microsoft.com/office/drawing/2014/main" id="{086C95E2-8789-B577-F740-CC42C92CB747}"/>
              </a:ext>
            </a:extLst>
          </p:cNvPr>
          <p:cNvGrpSpPr/>
          <p:nvPr/>
        </p:nvGrpSpPr>
        <p:grpSpPr>
          <a:xfrm>
            <a:off x="-695219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48" name="Connettore 36">
              <a:extLst>
                <a:ext uri="{FF2B5EF4-FFF2-40B4-BE49-F238E27FC236}">
                  <a16:creationId xmlns:a16="http://schemas.microsoft.com/office/drawing/2014/main" id="{238212EA-0381-36A4-2199-82AC8DB35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9" name="CasellaDiTesto 38">
              <a:extLst>
                <a:ext uri="{FF2B5EF4-FFF2-40B4-BE49-F238E27FC236}">
                  <a16:creationId xmlns:a16="http://schemas.microsoft.com/office/drawing/2014/main" id="{5570A91E-9801-F468-6B0B-4AC219FB90E9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50" name="Gruppo 35">
            <a:extLst>
              <a:ext uri="{FF2B5EF4-FFF2-40B4-BE49-F238E27FC236}">
                <a16:creationId xmlns:a16="http://schemas.microsoft.com/office/drawing/2014/main" id="{29803210-0F94-FBC9-AB7B-BF9C89F01DF8}"/>
              </a:ext>
            </a:extLst>
          </p:cNvPr>
          <p:cNvGrpSpPr/>
          <p:nvPr/>
        </p:nvGrpSpPr>
        <p:grpSpPr>
          <a:xfrm>
            <a:off x="-69521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51" name="Connettore 36">
              <a:extLst>
                <a:ext uri="{FF2B5EF4-FFF2-40B4-BE49-F238E27FC236}">
                  <a16:creationId xmlns:a16="http://schemas.microsoft.com/office/drawing/2014/main" id="{C3760C75-718E-FAF5-E60D-52119BDCCE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2" name="CasellaDiTesto 38">
              <a:extLst>
                <a:ext uri="{FF2B5EF4-FFF2-40B4-BE49-F238E27FC236}">
                  <a16:creationId xmlns:a16="http://schemas.microsoft.com/office/drawing/2014/main" id="{B38EE9AB-430D-DCE5-7B44-86D8543F9C01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53" name="Gruppo 35">
            <a:extLst>
              <a:ext uri="{FF2B5EF4-FFF2-40B4-BE49-F238E27FC236}">
                <a16:creationId xmlns:a16="http://schemas.microsoft.com/office/drawing/2014/main" id="{D4B5A4A4-899B-D417-5442-3990166E7551}"/>
              </a:ext>
            </a:extLst>
          </p:cNvPr>
          <p:cNvGrpSpPr/>
          <p:nvPr/>
        </p:nvGrpSpPr>
        <p:grpSpPr>
          <a:xfrm>
            <a:off x="-699982" y="4156913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54" name="Connettore 36">
              <a:extLst>
                <a:ext uri="{FF2B5EF4-FFF2-40B4-BE49-F238E27FC236}">
                  <a16:creationId xmlns:a16="http://schemas.microsoft.com/office/drawing/2014/main" id="{74F277BB-1263-B1EE-BF8C-F2716679D9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5" name="CasellaDiTesto 38">
              <a:extLst>
                <a:ext uri="{FF2B5EF4-FFF2-40B4-BE49-F238E27FC236}">
                  <a16:creationId xmlns:a16="http://schemas.microsoft.com/office/drawing/2014/main" id="{641725E4-711D-6DEB-765E-E1CBE7E15283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sp>
        <p:nvSpPr>
          <p:cNvPr id="57" name="Connettore 36">
            <a:extLst>
              <a:ext uri="{FF2B5EF4-FFF2-40B4-BE49-F238E27FC236}">
                <a16:creationId xmlns:a16="http://schemas.microsoft.com/office/drawing/2014/main" id="{8908719B-C5DE-6957-893B-174176977225}"/>
              </a:ext>
            </a:extLst>
          </p:cNvPr>
          <p:cNvSpPr>
            <a:spLocks noChangeAspect="1"/>
          </p:cNvSpPr>
          <p:nvPr/>
        </p:nvSpPr>
        <p:spPr>
          <a:xfrm>
            <a:off x="-685376" y="1734979"/>
            <a:ext cx="403012" cy="403012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CasellaDiTesto 38">
            <a:extLst>
              <a:ext uri="{FF2B5EF4-FFF2-40B4-BE49-F238E27FC236}">
                <a16:creationId xmlns:a16="http://schemas.microsoft.com/office/drawing/2014/main" id="{13132536-9B4B-C092-3C9D-2630E3C91EA3}"/>
              </a:ext>
            </a:extLst>
          </p:cNvPr>
          <p:cNvSpPr txBox="1"/>
          <p:nvPr/>
        </p:nvSpPr>
        <p:spPr>
          <a:xfrm flipH="1">
            <a:off x="-639445" y="1728629"/>
            <a:ext cx="323599" cy="461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rPr>
              <a:t>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2E6BEA0-2C94-ED2D-3523-FAD6DD8C0B81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9" name="Gruppo 35">
            <a:extLst>
              <a:ext uri="{FF2B5EF4-FFF2-40B4-BE49-F238E27FC236}">
                <a16:creationId xmlns:a16="http://schemas.microsoft.com/office/drawing/2014/main" id="{913A2139-7A86-2A2E-C410-621541DE687D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60" name="Connettore 36">
              <a:extLst>
                <a:ext uri="{FF2B5EF4-FFF2-40B4-BE49-F238E27FC236}">
                  <a16:creationId xmlns:a16="http://schemas.microsoft.com/office/drawing/2014/main" id="{64B6C70D-B66B-BB3B-D5BE-939F49C91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1" name="CasellaDiTesto 38">
              <a:extLst>
                <a:ext uri="{FF2B5EF4-FFF2-40B4-BE49-F238E27FC236}">
                  <a16:creationId xmlns:a16="http://schemas.microsoft.com/office/drawing/2014/main" id="{0BF43569-7BF2-91C4-3C3A-9BF6F84A754C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68" name="Oval 67">
            <a:extLst>
              <a:ext uri="{FF2B5EF4-FFF2-40B4-BE49-F238E27FC236}">
                <a16:creationId xmlns:a16="http://schemas.microsoft.com/office/drawing/2014/main" id="{1F75A73B-8A88-A076-79B7-7B9634DF1969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4" name="Gruppo 35">
            <a:extLst>
              <a:ext uri="{FF2B5EF4-FFF2-40B4-BE49-F238E27FC236}">
                <a16:creationId xmlns:a16="http://schemas.microsoft.com/office/drawing/2014/main" id="{2B6853E2-37E6-E172-1944-3C6133AB8D34}"/>
              </a:ext>
            </a:extLst>
          </p:cNvPr>
          <p:cNvGrpSpPr/>
          <p:nvPr/>
        </p:nvGrpSpPr>
        <p:grpSpPr>
          <a:xfrm>
            <a:off x="166668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45" name="Connettore 36">
              <a:extLst>
                <a:ext uri="{FF2B5EF4-FFF2-40B4-BE49-F238E27FC236}">
                  <a16:creationId xmlns:a16="http://schemas.microsoft.com/office/drawing/2014/main" id="{20CC8BB9-D207-B098-4655-7738AD05AF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6" name="CasellaDiTesto 38">
              <a:extLst>
                <a:ext uri="{FF2B5EF4-FFF2-40B4-BE49-F238E27FC236}">
                  <a16:creationId xmlns:a16="http://schemas.microsoft.com/office/drawing/2014/main" id="{AF2C858B-4BF8-19DD-20BF-5C4A82C028F8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C848B69-BF08-5313-D45C-274D762C0F10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4A83DE6-E46A-2D59-3FA5-313830E92E7A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B3F161E6-F286-9AE3-8DC5-80B4D4E467F9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286BD83-9721-DFC2-32C2-B8927470A8F2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CF71A22-C940-6BB0-D01A-D7341D4F2316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93;p14" descr="image.png">
            <a:extLst>
              <a:ext uri="{FF2B5EF4-FFF2-40B4-BE49-F238E27FC236}">
                <a16:creationId xmlns:a16="http://schemas.microsoft.com/office/drawing/2014/main" id="{F7A18CA8-3E28-4CF1-1276-79FE2BC06C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742C7EAB-41F6-6936-0D2A-629A32C97FB7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514E2DE-5FCF-7A1A-0166-0275B8019CD1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AC30947-10E9-7203-52DB-60ABAEB7E990}"/>
              </a:ext>
            </a:extLst>
          </p:cNvPr>
          <p:cNvGrpSpPr/>
          <p:nvPr/>
        </p:nvGrpSpPr>
        <p:grpSpPr>
          <a:xfrm>
            <a:off x="3144697" y="2186248"/>
            <a:ext cx="5902606" cy="3670932"/>
            <a:chOff x="772037" y="2186248"/>
            <a:chExt cx="5902606" cy="367093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B07E1A5-8B26-3584-7B81-524D477FFE1C}"/>
                </a:ext>
              </a:extLst>
            </p:cNvPr>
            <p:cNvGrpSpPr/>
            <p:nvPr/>
          </p:nvGrpSpPr>
          <p:grpSpPr>
            <a:xfrm>
              <a:off x="772037" y="2186248"/>
              <a:ext cx="5902606" cy="1182253"/>
              <a:chOff x="772037" y="2186248"/>
              <a:chExt cx="5902606" cy="1182253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BD65EAB-6B3E-DB75-F6E9-4AD1A068EE51}"/>
                  </a:ext>
                </a:extLst>
              </p:cNvPr>
              <p:cNvGrpSpPr/>
              <p:nvPr/>
            </p:nvGrpSpPr>
            <p:grpSpPr>
              <a:xfrm>
                <a:off x="772037" y="2567824"/>
                <a:ext cx="419100" cy="419100"/>
                <a:chOff x="733552" y="2825873"/>
                <a:chExt cx="419100" cy="419100"/>
              </a:xfrm>
            </p:grpSpPr>
            <p:pic>
              <p:nvPicPr>
                <p:cNvPr id="110" name="Google Shape;110;p14" descr="image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733552" y="2825873"/>
                  <a:ext cx="4191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8" name="Google Shape;118;p14" descr="image.png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873172" y="2954634"/>
                  <a:ext cx="133350" cy="171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2A70346-62A3-402B-5040-75EE61400998}"/>
                  </a:ext>
                </a:extLst>
              </p:cNvPr>
              <p:cNvGrpSpPr/>
              <p:nvPr/>
            </p:nvGrpSpPr>
            <p:grpSpPr>
              <a:xfrm>
                <a:off x="1323297" y="2186248"/>
                <a:ext cx="5351346" cy="1182253"/>
                <a:chOff x="1323297" y="2234046"/>
                <a:chExt cx="5351346" cy="1182253"/>
              </a:xfrm>
            </p:grpSpPr>
            <p:sp>
              <p:nvSpPr>
                <p:cNvPr id="119" name="Google Shape;119;p14"/>
                <p:cNvSpPr txBox="1"/>
                <p:nvPr/>
              </p:nvSpPr>
              <p:spPr>
                <a:xfrm>
                  <a:off x="1323975" y="2234046"/>
                  <a:ext cx="535066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0" i="0" u="none" strike="noStrike" cap="none" dirty="0">
                      <a:solidFill>
                        <a:srgbClr val="FFFFFF"/>
                      </a:solidFill>
                      <a:latin typeface="Montserrat" pitchFamily="2" charset="0"/>
                      <a:ea typeface="Outfit ExtraBold"/>
                      <a:cs typeface="Outfit ExtraBold"/>
                      <a:sym typeface="Outfit ExtraBold"/>
                    </a:rPr>
                    <a:t>IDENTITÀ CULINARIA</a:t>
                  </a:r>
                  <a:endParaRPr sz="1800" dirty="0">
                    <a:latin typeface="Montserrat" pitchFamily="2" charset="0"/>
                  </a:endParaRPr>
                </a:p>
              </p:txBody>
            </p:sp>
            <p:sp>
              <p:nvSpPr>
                <p:cNvPr id="120" name="Google Shape;120;p14"/>
                <p:cNvSpPr txBox="1"/>
                <p:nvPr/>
              </p:nvSpPr>
              <p:spPr>
                <a:xfrm>
                  <a:off x="1323297" y="2492969"/>
                  <a:ext cx="5095875" cy="92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lvl="0"/>
                  <a:r>
                    <a:rPr lang="it-IT" sz="1200" dirty="0">
                      <a:solidFill>
                        <a:srgbClr val="A5A5A5"/>
                      </a:solidFill>
                      <a:latin typeface="Montserrat" pitchFamily="2" charset="0"/>
                      <a:ea typeface="Inter" panose="020B0604020202020204" charset="0"/>
                    </a:rPr>
                    <a:t>Fondere la passione per gli hamburger americani rivisitati con l'eccellenza delle materie prime DOC, DOP e a Km0. Attraverso la tecnologia, garantiamo la totale tracciabilità di una proposta sana e naturale, rispondendo ai valori di una clientela attenta alla bontà e all'ambiente.</a:t>
                  </a:r>
                  <a:endParaRPr sz="1800" dirty="0">
                    <a:solidFill>
                      <a:srgbClr val="A5A5A5"/>
                    </a:solidFill>
                    <a:latin typeface="Montserrat" pitchFamily="2" charset="0"/>
                    <a:ea typeface="Inter" panose="020B0604020202020204" charset="0"/>
                  </a:endParaRPr>
                </a:p>
              </p:txBody>
            </p:sp>
          </p:grp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562D5EC-C0FD-CD96-7EBC-41430E79AA9A}"/>
                </a:ext>
              </a:extLst>
            </p:cNvPr>
            <p:cNvGrpSpPr/>
            <p:nvPr/>
          </p:nvGrpSpPr>
          <p:grpSpPr>
            <a:xfrm>
              <a:off x="772037" y="3816443"/>
              <a:ext cx="5902606" cy="795411"/>
              <a:chOff x="772037" y="3816443"/>
              <a:chExt cx="5902606" cy="795411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3E823E40-6C68-4D40-4142-EC30509B42BE}"/>
                  </a:ext>
                </a:extLst>
              </p:cNvPr>
              <p:cNvGrpSpPr/>
              <p:nvPr/>
            </p:nvGrpSpPr>
            <p:grpSpPr>
              <a:xfrm>
                <a:off x="772037" y="4004598"/>
                <a:ext cx="419100" cy="419100"/>
                <a:chOff x="772037" y="4192647"/>
                <a:chExt cx="419100" cy="419100"/>
              </a:xfrm>
            </p:grpSpPr>
            <p:pic>
              <p:nvPicPr>
                <p:cNvPr id="111" name="Google Shape;111;p14" descr="image.png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772037" y="4192647"/>
                  <a:ext cx="4191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1" name="Google Shape;121;p14" descr="image.png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866862" y="4322310"/>
                  <a:ext cx="219075" cy="171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F697CAD-FF2E-79A8-F7EA-59577449F16F}"/>
                  </a:ext>
                </a:extLst>
              </p:cNvPr>
              <p:cNvGrpSpPr/>
              <p:nvPr/>
            </p:nvGrpSpPr>
            <p:grpSpPr>
              <a:xfrm>
                <a:off x="1323297" y="3816443"/>
                <a:ext cx="5351346" cy="795411"/>
                <a:chOff x="1323297" y="3803898"/>
                <a:chExt cx="5351346" cy="795411"/>
              </a:xfrm>
            </p:grpSpPr>
            <p:sp>
              <p:nvSpPr>
                <p:cNvPr id="122" name="Google Shape;122;p14"/>
                <p:cNvSpPr txBox="1"/>
                <p:nvPr/>
              </p:nvSpPr>
              <p:spPr>
                <a:xfrm>
                  <a:off x="1323975" y="3803898"/>
                  <a:ext cx="535066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0" i="0" u="none" strike="noStrike" cap="none" dirty="0">
                      <a:solidFill>
                        <a:srgbClr val="FFFFFF"/>
                      </a:solidFill>
                      <a:latin typeface="Montserrat" pitchFamily="2" charset="0"/>
                      <a:ea typeface="Outfit ExtraBold"/>
                      <a:cs typeface="Outfit ExtraBold"/>
                      <a:sym typeface="Outfit ExtraBold"/>
                    </a:rPr>
                    <a:t>FOCUS SULLA COMMUNITY LOCALE</a:t>
                  </a:r>
                  <a:endParaRPr sz="1800" dirty="0">
                    <a:latin typeface="Montserrat" pitchFamily="2" charset="0"/>
                  </a:endParaRPr>
                </a:p>
              </p:txBody>
            </p:sp>
            <p:sp>
              <p:nvSpPr>
                <p:cNvPr id="123" name="Google Shape;123;p14"/>
                <p:cNvSpPr txBox="1"/>
                <p:nvPr/>
              </p:nvSpPr>
              <p:spPr>
                <a:xfrm>
                  <a:off x="1323297" y="4045311"/>
                  <a:ext cx="5095875" cy="5539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it-IT" sz="1200" b="0" i="0" u="none" strike="noStrike" cap="none" noProof="0" dirty="0">
                      <a:solidFill>
                        <a:srgbClr val="A3A3A3"/>
                      </a:solidFill>
                      <a:latin typeface="Montserrat" pitchFamily="2" charset="0"/>
                      <a:ea typeface="Inter"/>
                      <a:cs typeface="Inter"/>
                      <a:sym typeface="Inter"/>
                    </a:rPr>
                    <a:t>Trasformare ogni ordinazione in un punto di contatto interattivo, stimolando la fidelizzazione attraverso logiche di gamification ed eventi dedicati.</a:t>
                  </a:r>
                  <a:endParaRPr lang="it-IT" sz="1800" noProof="0" dirty="0">
                    <a:latin typeface="Montserrat" pitchFamily="2" charset="0"/>
                  </a:endParaRPr>
                </a:p>
              </p:txBody>
            </p:sp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6F096E6-D881-CDD7-D025-CD2CB892BAD4}"/>
                </a:ext>
              </a:extLst>
            </p:cNvPr>
            <p:cNvGrpSpPr/>
            <p:nvPr/>
          </p:nvGrpSpPr>
          <p:grpSpPr>
            <a:xfrm>
              <a:off x="772037" y="5059795"/>
              <a:ext cx="5902606" cy="797385"/>
              <a:chOff x="772037" y="5059795"/>
              <a:chExt cx="5902606" cy="79738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264210A-E1E3-F53F-B603-F869F2ABAF32}"/>
                  </a:ext>
                </a:extLst>
              </p:cNvPr>
              <p:cNvGrpSpPr/>
              <p:nvPr/>
            </p:nvGrpSpPr>
            <p:grpSpPr>
              <a:xfrm>
                <a:off x="772037" y="5248937"/>
                <a:ext cx="419100" cy="419100"/>
                <a:chOff x="733552" y="5409752"/>
                <a:chExt cx="419100" cy="419100"/>
              </a:xfrm>
            </p:grpSpPr>
            <p:pic>
              <p:nvPicPr>
                <p:cNvPr id="112" name="Google Shape;112;p14" descr="image.png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/>
                <a:stretch/>
              </p:blipFill>
              <p:spPr>
                <a:xfrm>
                  <a:off x="733552" y="5409752"/>
                  <a:ext cx="4191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4" name="Google Shape;124;p14" descr="image.png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/>
                <a:stretch/>
              </p:blipFill>
              <p:spPr>
                <a:xfrm>
                  <a:off x="859948" y="5543465"/>
                  <a:ext cx="171450" cy="171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B5B32DE-AA22-4C7C-429C-73D95F7F659D}"/>
                  </a:ext>
                </a:extLst>
              </p:cNvPr>
              <p:cNvGrpSpPr/>
              <p:nvPr/>
            </p:nvGrpSpPr>
            <p:grpSpPr>
              <a:xfrm>
                <a:off x="1323975" y="5059795"/>
                <a:ext cx="5350668" cy="797385"/>
                <a:chOff x="1310879" y="5040789"/>
                <a:chExt cx="5350668" cy="797385"/>
              </a:xfrm>
            </p:grpSpPr>
            <p:sp>
              <p:nvSpPr>
                <p:cNvPr id="126" name="Google Shape;126;p14"/>
                <p:cNvSpPr txBox="1"/>
                <p:nvPr/>
              </p:nvSpPr>
              <p:spPr>
                <a:xfrm>
                  <a:off x="1323297" y="5284176"/>
                  <a:ext cx="5095875" cy="5539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it-IT" sz="1200" noProof="0">
                      <a:solidFill>
                        <a:srgbClr val="A3A3A3"/>
                      </a:solidFill>
                      <a:latin typeface="Montserrat" pitchFamily="2" charset="0"/>
                      <a:ea typeface="Inter"/>
                      <a:sym typeface="Inter"/>
                    </a:rPr>
                    <a:t>Superare la frammentazione delle ordinazioni attraverso una piattaforma unica che rende il delivery semplice, intuitive, e rapido.</a:t>
                  </a:r>
                  <a:endParaRPr lang="it-IT" sz="1800" noProof="0">
                    <a:latin typeface="Montserrat" pitchFamily="2" charset="0"/>
                  </a:endParaRPr>
                </a:p>
              </p:txBody>
            </p:sp>
            <p:sp>
              <p:nvSpPr>
                <p:cNvPr id="5" name="Google Shape;122;p14">
                  <a:extLst>
                    <a:ext uri="{FF2B5EF4-FFF2-40B4-BE49-F238E27FC236}">
                      <a16:creationId xmlns:a16="http://schemas.microsoft.com/office/drawing/2014/main" id="{F99529D0-94E2-C0DB-E8F1-81AA66A7B6B5}"/>
                    </a:ext>
                  </a:extLst>
                </p:cNvPr>
                <p:cNvSpPr txBox="1"/>
                <p:nvPr/>
              </p:nvSpPr>
              <p:spPr>
                <a:xfrm>
                  <a:off x="1310879" y="5040789"/>
                  <a:ext cx="535066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dirty="0">
                      <a:solidFill>
                        <a:srgbClr val="FFFFFF"/>
                      </a:solidFill>
                      <a:latin typeface="Montserrat" pitchFamily="2" charset="0"/>
                      <a:sym typeface="Outfit ExtraBold"/>
                    </a:rPr>
                    <a:t>ORDINAZIONI DIGITALI PREMIUM</a:t>
                  </a:r>
                  <a:endParaRPr sz="1800" dirty="0">
                    <a:latin typeface="Montserrat" pitchFamily="2" charset="0"/>
                  </a:endParaRPr>
                </a:p>
              </p:txBody>
            </p:sp>
          </p:grpSp>
        </p:grpSp>
      </p:grpSp>
      <p:sp>
        <p:nvSpPr>
          <p:cNvPr id="2" name="!!titolo">
            <a:extLst>
              <a:ext uri="{FF2B5EF4-FFF2-40B4-BE49-F238E27FC236}">
                <a16:creationId xmlns:a16="http://schemas.microsoft.com/office/drawing/2014/main" id="{8AF35E70-9DD8-C868-3859-75B51FF16672}"/>
              </a:ext>
            </a:extLst>
          </p:cNvPr>
          <p:cNvSpPr txBox="1"/>
          <p:nvPr/>
        </p:nvSpPr>
        <p:spPr>
          <a:xfrm>
            <a:off x="848766" y="568884"/>
            <a:ext cx="737885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CONCEPT &amp; VISION: L'IDEA GUIDA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1D112D77-195F-D1EA-528E-355054FE823A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uppo 35">
            <a:extLst>
              <a:ext uri="{FF2B5EF4-FFF2-40B4-BE49-F238E27FC236}">
                <a16:creationId xmlns:a16="http://schemas.microsoft.com/office/drawing/2014/main" id="{D8649DBC-8A49-C1F5-321D-14B5BEE8533D}"/>
              </a:ext>
            </a:extLst>
          </p:cNvPr>
          <p:cNvGrpSpPr/>
          <p:nvPr/>
        </p:nvGrpSpPr>
        <p:grpSpPr>
          <a:xfrm>
            <a:off x="-686034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7" name="Connettore 36">
              <a:extLst>
                <a:ext uri="{FF2B5EF4-FFF2-40B4-BE49-F238E27FC236}">
                  <a16:creationId xmlns:a16="http://schemas.microsoft.com/office/drawing/2014/main" id="{15D2851F-EF92-8C0A-EFA8-0091DB8100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38">
              <a:extLst>
                <a:ext uri="{FF2B5EF4-FFF2-40B4-BE49-F238E27FC236}">
                  <a16:creationId xmlns:a16="http://schemas.microsoft.com/office/drawing/2014/main" id="{63681562-00ED-052D-D3D6-4FAF73B44BEE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2" name="Gruppo 35">
            <a:extLst>
              <a:ext uri="{FF2B5EF4-FFF2-40B4-BE49-F238E27FC236}">
                <a16:creationId xmlns:a16="http://schemas.microsoft.com/office/drawing/2014/main" id="{960578A7-30EF-C79A-3DC2-57B6C1A71EF5}"/>
              </a:ext>
            </a:extLst>
          </p:cNvPr>
          <p:cNvGrpSpPr/>
          <p:nvPr/>
        </p:nvGrpSpPr>
        <p:grpSpPr>
          <a:xfrm>
            <a:off x="-69521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13" name="Connettore 36">
              <a:extLst>
                <a:ext uri="{FF2B5EF4-FFF2-40B4-BE49-F238E27FC236}">
                  <a16:creationId xmlns:a16="http://schemas.microsoft.com/office/drawing/2014/main" id="{B5B08EB8-0524-83A9-12CE-7A5AD3CF2D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CasellaDiTesto 38">
              <a:extLst>
                <a:ext uri="{FF2B5EF4-FFF2-40B4-BE49-F238E27FC236}">
                  <a16:creationId xmlns:a16="http://schemas.microsoft.com/office/drawing/2014/main" id="{0A5359C5-0C21-9EBF-5FA3-E833831218BD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15" name="Gruppo 35">
            <a:extLst>
              <a:ext uri="{FF2B5EF4-FFF2-40B4-BE49-F238E27FC236}">
                <a16:creationId xmlns:a16="http://schemas.microsoft.com/office/drawing/2014/main" id="{796FC4CC-3342-8721-E314-5C458039B418}"/>
              </a:ext>
            </a:extLst>
          </p:cNvPr>
          <p:cNvGrpSpPr/>
          <p:nvPr/>
        </p:nvGrpSpPr>
        <p:grpSpPr>
          <a:xfrm>
            <a:off x="-699982" y="4156913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16" name="Connettore 36">
              <a:extLst>
                <a:ext uri="{FF2B5EF4-FFF2-40B4-BE49-F238E27FC236}">
                  <a16:creationId xmlns:a16="http://schemas.microsoft.com/office/drawing/2014/main" id="{F5A63938-4BE4-0B12-D2FA-AF2B0A8066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CasellaDiTesto 38">
              <a:extLst>
                <a:ext uri="{FF2B5EF4-FFF2-40B4-BE49-F238E27FC236}">
                  <a16:creationId xmlns:a16="http://schemas.microsoft.com/office/drawing/2014/main" id="{F31D6975-D2BB-230E-E043-311335A93B5A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8" name="Gruppo 35">
            <a:extLst>
              <a:ext uri="{FF2B5EF4-FFF2-40B4-BE49-F238E27FC236}">
                <a16:creationId xmlns:a16="http://schemas.microsoft.com/office/drawing/2014/main" id="{EBBF74D5-B33B-B784-34AF-64ED147F93EB}"/>
              </a:ext>
            </a:extLst>
          </p:cNvPr>
          <p:cNvGrpSpPr/>
          <p:nvPr/>
        </p:nvGrpSpPr>
        <p:grpSpPr>
          <a:xfrm>
            <a:off x="-68537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9" name="Connettore 36">
              <a:extLst>
                <a:ext uri="{FF2B5EF4-FFF2-40B4-BE49-F238E27FC236}">
                  <a16:creationId xmlns:a16="http://schemas.microsoft.com/office/drawing/2014/main" id="{53F0B44E-4A34-1918-B25B-20DB6467FC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38">
              <a:extLst>
                <a:ext uri="{FF2B5EF4-FFF2-40B4-BE49-F238E27FC236}">
                  <a16:creationId xmlns:a16="http://schemas.microsoft.com/office/drawing/2014/main" id="{0CA0C9F8-67E1-3DF5-7285-8B57C99FCB64}"/>
                </a:ext>
              </a:extLst>
            </p:cNvPr>
            <p:cNvSpPr txBox="1"/>
            <p:nvPr/>
          </p:nvSpPr>
          <p:spPr>
            <a:xfrm flipH="1">
              <a:off x="1226995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53DC9E-8219-7EB6-63EB-1B5E2128AFD4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1" name="Gruppo 35">
            <a:extLst>
              <a:ext uri="{FF2B5EF4-FFF2-40B4-BE49-F238E27FC236}">
                <a16:creationId xmlns:a16="http://schemas.microsoft.com/office/drawing/2014/main" id="{5B0BB1D9-ECE6-40E0-F278-C0A3A866834C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2" name="Connettore 36">
              <a:extLst>
                <a:ext uri="{FF2B5EF4-FFF2-40B4-BE49-F238E27FC236}">
                  <a16:creationId xmlns:a16="http://schemas.microsoft.com/office/drawing/2014/main" id="{49861634-1A7A-D877-115B-8CD08D2234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CasellaDiTesto 38">
              <a:extLst>
                <a:ext uri="{FF2B5EF4-FFF2-40B4-BE49-F238E27FC236}">
                  <a16:creationId xmlns:a16="http://schemas.microsoft.com/office/drawing/2014/main" id="{4B93CFBA-07CC-E8B8-9983-54C1721F27B8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120856ED-1715-8276-7211-E36F90D9CAAF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9" name="Gruppo 35">
            <a:extLst>
              <a:ext uri="{FF2B5EF4-FFF2-40B4-BE49-F238E27FC236}">
                <a16:creationId xmlns:a16="http://schemas.microsoft.com/office/drawing/2014/main" id="{21D934A0-FD45-FCC6-0558-E9F9485BE779}"/>
              </a:ext>
            </a:extLst>
          </p:cNvPr>
          <p:cNvGrpSpPr/>
          <p:nvPr/>
        </p:nvGrpSpPr>
        <p:grpSpPr>
          <a:xfrm>
            <a:off x="165001" y="2930296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10" name="Connettore 36">
              <a:extLst>
                <a:ext uri="{FF2B5EF4-FFF2-40B4-BE49-F238E27FC236}">
                  <a16:creationId xmlns:a16="http://schemas.microsoft.com/office/drawing/2014/main" id="{27DEC1BF-8AC9-CEC3-CBF0-365DC38D6E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CasellaDiTesto 38">
              <a:extLst>
                <a:ext uri="{FF2B5EF4-FFF2-40B4-BE49-F238E27FC236}">
                  <a16:creationId xmlns:a16="http://schemas.microsoft.com/office/drawing/2014/main" id="{39884216-874F-8F2D-5B35-AE02F5F19E7F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0EC7BA-2491-9C1B-1263-07D014BF470A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716635-3F10-F191-3836-2CB1F67507CF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1803312-36A7-84AE-AD26-CAC340978F87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FB7CBA1-9722-01FC-E7B0-52AB91A5BBEA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34D54CF-10FD-6DD5-16B3-AC8DA3069A71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Google Shape;136;p15">
            <a:extLst>
              <a:ext uri="{FF2B5EF4-FFF2-40B4-BE49-F238E27FC236}">
                <a16:creationId xmlns:a16="http://schemas.microsoft.com/office/drawing/2014/main" id="{AD8E22FA-68ED-2AB7-4B2A-04BEB440ED4D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Andiamo oltre la classica hamburgeria: creiamo un vero e proprio ecosistema digitale integrato.</a:t>
            </a:r>
            <a:endParaRPr lang="it-IT" sz="120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4BE1CF1F-F3A7-71EC-EDB3-3CCB95ADD5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7C4B4A97-487B-85AB-3DAE-C4B95182AF79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36C2F70-43B2-3861-B72B-82E4A819AE27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2" name="!!4b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!!4a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Analisi dei trend di mercato e modelli applicativi di successo internazionale.</a:t>
            </a:r>
            <a:endParaRPr lang="it-IT" noProof="0" dirty="0">
              <a:latin typeface="Montserrat" pitchFamily="2" charset="0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104900" y="3294905"/>
            <a:ext cx="47305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95707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I GRANDI DEL FAST FOOD</a:t>
            </a:r>
            <a:endParaRPr sz="1800" b="1" dirty="0">
              <a:latin typeface="Comfortaa" pitchFamily="2" charset="0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104900" y="3647330"/>
            <a:ext cx="45053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Abbiamo studiato la fluidità e la gamification dei leader mondiali (es. McDonald's App). L'obiettivo è replicare la velocità d'acquisto a 3 click inserendo però elementi di unicità artigianale e narrazione del prodotto.</a:t>
            </a:r>
            <a:endParaRPr lang="it-IT" sz="1200" noProof="0" dirty="0">
              <a:latin typeface="Montserrat" pitchFamily="2" charset="0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6581775" y="3294905"/>
            <a:ext cx="47305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95707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GIGANTI DEL DELIVERY</a:t>
            </a:r>
            <a:endParaRPr sz="1800" b="1" dirty="0">
              <a:latin typeface="Comfortaa" pitchFamily="2" charset="0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6581775" y="3647330"/>
            <a:ext cx="45053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it-IT" sz="1200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rPr>
              <a:t>L'integrazione logistica si ispira alla precisione di Deliveroo, ma puntiamo a un delivery proprietario. In questo modo evitiamo commissioni esterne, gestiamo direttamente i nostri rider e manteniamo il controllo totale sulla qualità della consegna.</a:t>
            </a:r>
            <a:endParaRPr sz="1600" dirty="0">
              <a:solidFill>
                <a:srgbClr val="A5A5A5"/>
              </a:solidFill>
              <a:latin typeface="Montserrat" pitchFamily="2" charset="0"/>
              <a:ea typeface="Inter" panose="020B0604020202020204" charset="0"/>
            </a:endParaRPr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330443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30443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!!titolo">
            <a:extLst>
              <a:ext uri="{FF2B5EF4-FFF2-40B4-BE49-F238E27FC236}">
                <a16:creationId xmlns:a16="http://schemas.microsoft.com/office/drawing/2014/main" id="{5048FC11-5D0B-88C2-CEF6-A6276D171FE0}"/>
              </a:ext>
            </a:extLst>
          </p:cNvPr>
          <p:cNvSpPr txBox="1"/>
          <p:nvPr/>
        </p:nvSpPr>
        <p:spPr>
          <a:xfrm>
            <a:off x="848766" y="568884"/>
            <a:ext cx="737885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it-IT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VISION: COSA HA ISPIRATO L'APP</a:t>
            </a:r>
            <a:endParaRPr lang="it-IT" sz="3200" b="1" dirty="0">
              <a:latin typeface="Montserrat" pitchFamily="2" charset="0"/>
            </a:endParaRPr>
          </a:p>
        </p:txBody>
      </p:sp>
      <p:sp>
        <p:nvSpPr>
          <p:cNvPr id="7" name="Google Shape;104;p14">
            <a:extLst>
              <a:ext uri="{FF2B5EF4-FFF2-40B4-BE49-F238E27FC236}">
                <a16:creationId xmlns:a16="http://schemas.microsoft.com/office/drawing/2014/main" id="{E7876B1D-02DC-F972-FB48-8AFF0A9E87E4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ruppo 35">
            <a:extLst>
              <a:ext uri="{FF2B5EF4-FFF2-40B4-BE49-F238E27FC236}">
                <a16:creationId xmlns:a16="http://schemas.microsoft.com/office/drawing/2014/main" id="{EA6C33CA-9E58-FCDA-8F00-6DFAF69ACD91}"/>
              </a:ext>
            </a:extLst>
          </p:cNvPr>
          <p:cNvGrpSpPr/>
          <p:nvPr/>
        </p:nvGrpSpPr>
        <p:grpSpPr>
          <a:xfrm>
            <a:off x="-686034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10" name="Connettore 36">
              <a:extLst>
                <a:ext uri="{FF2B5EF4-FFF2-40B4-BE49-F238E27FC236}">
                  <a16:creationId xmlns:a16="http://schemas.microsoft.com/office/drawing/2014/main" id="{94A3D8F2-1493-3402-0AB8-5138BF585D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CasellaDiTesto 38">
              <a:extLst>
                <a:ext uri="{FF2B5EF4-FFF2-40B4-BE49-F238E27FC236}">
                  <a16:creationId xmlns:a16="http://schemas.microsoft.com/office/drawing/2014/main" id="{53BFDFD4-340A-1BB6-CA38-70EB6C41090C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2" name="Gruppo 35">
            <a:extLst>
              <a:ext uri="{FF2B5EF4-FFF2-40B4-BE49-F238E27FC236}">
                <a16:creationId xmlns:a16="http://schemas.microsoft.com/office/drawing/2014/main" id="{765F8062-E399-2616-A4E8-7D8480AE7D55}"/>
              </a:ext>
            </a:extLst>
          </p:cNvPr>
          <p:cNvGrpSpPr/>
          <p:nvPr/>
        </p:nvGrpSpPr>
        <p:grpSpPr>
          <a:xfrm>
            <a:off x="-687161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13" name="Connettore 36">
              <a:extLst>
                <a:ext uri="{FF2B5EF4-FFF2-40B4-BE49-F238E27FC236}">
                  <a16:creationId xmlns:a16="http://schemas.microsoft.com/office/drawing/2014/main" id="{FAC508C2-9EDE-9722-D9D4-C026531E3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CasellaDiTesto 38">
              <a:extLst>
                <a:ext uri="{FF2B5EF4-FFF2-40B4-BE49-F238E27FC236}">
                  <a16:creationId xmlns:a16="http://schemas.microsoft.com/office/drawing/2014/main" id="{68819FD1-1AD3-CD09-92EC-4C12CA7970F8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18" name="Gruppo 35">
            <a:extLst>
              <a:ext uri="{FF2B5EF4-FFF2-40B4-BE49-F238E27FC236}">
                <a16:creationId xmlns:a16="http://schemas.microsoft.com/office/drawing/2014/main" id="{AD342E91-CC3F-F102-F8CA-ECDB24E986FC}"/>
              </a:ext>
            </a:extLst>
          </p:cNvPr>
          <p:cNvGrpSpPr/>
          <p:nvPr/>
        </p:nvGrpSpPr>
        <p:grpSpPr>
          <a:xfrm>
            <a:off x="-699982" y="4156913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19" name="Connettore 36">
              <a:extLst>
                <a:ext uri="{FF2B5EF4-FFF2-40B4-BE49-F238E27FC236}">
                  <a16:creationId xmlns:a16="http://schemas.microsoft.com/office/drawing/2014/main" id="{85C62ED7-F418-A720-5939-1B4F2F8E7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38">
              <a:extLst>
                <a:ext uri="{FF2B5EF4-FFF2-40B4-BE49-F238E27FC236}">
                  <a16:creationId xmlns:a16="http://schemas.microsoft.com/office/drawing/2014/main" id="{A43578C1-061E-B9A1-45C2-3AE99B5F25EB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1" name="Gruppo 35">
            <a:extLst>
              <a:ext uri="{FF2B5EF4-FFF2-40B4-BE49-F238E27FC236}">
                <a16:creationId xmlns:a16="http://schemas.microsoft.com/office/drawing/2014/main" id="{DAEA97EC-59D9-E103-69A3-D5FD6607CB2E}"/>
              </a:ext>
            </a:extLst>
          </p:cNvPr>
          <p:cNvGrpSpPr/>
          <p:nvPr/>
        </p:nvGrpSpPr>
        <p:grpSpPr>
          <a:xfrm>
            <a:off x="-68537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22" name="Connettore 36">
              <a:extLst>
                <a:ext uri="{FF2B5EF4-FFF2-40B4-BE49-F238E27FC236}">
                  <a16:creationId xmlns:a16="http://schemas.microsoft.com/office/drawing/2014/main" id="{4F1ED49B-9C47-658F-384A-2D1CAF2207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CasellaDiTesto 38">
              <a:extLst>
                <a:ext uri="{FF2B5EF4-FFF2-40B4-BE49-F238E27FC236}">
                  <a16:creationId xmlns:a16="http://schemas.microsoft.com/office/drawing/2014/main" id="{0F838CB7-81D6-A094-AB7C-DA4A4DD4A3DC}"/>
                </a:ext>
              </a:extLst>
            </p:cNvPr>
            <p:cNvSpPr txBox="1"/>
            <p:nvPr/>
          </p:nvSpPr>
          <p:spPr>
            <a:xfrm flipH="1">
              <a:off x="1226995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</a:t>
              </a:r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A58E11-1B17-1C1C-F5F8-07FB0AD19735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4" name="Gruppo 35">
            <a:extLst>
              <a:ext uri="{FF2B5EF4-FFF2-40B4-BE49-F238E27FC236}">
                <a16:creationId xmlns:a16="http://schemas.microsoft.com/office/drawing/2014/main" id="{DCDF24C0-6A9B-281E-798E-05F7B81F44FD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5" name="Connettore 36">
              <a:extLst>
                <a:ext uri="{FF2B5EF4-FFF2-40B4-BE49-F238E27FC236}">
                  <a16:creationId xmlns:a16="http://schemas.microsoft.com/office/drawing/2014/main" id="{30D52DEB-6258-54BE-B842-798A2D290B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6" name="CasellaDiTesto 38">
              <a:extLst>
                <a:ext uri="{FF2B5EF4-FFF2-40B4-BE49-F238E27FC236}">
                  <a16:creationId xmlns:a16="http://schemas.microsoft.com/office/drawing/2014/main" id="{FF722D1A-1BF8-465E-4876-9D63E653B8CC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1826C375-F654-95D1-9BE6-900A39507627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5" name="Gruppo 35">
            <a:extLst>
              <a:ext uri="{FF2B5EF4-FFF2-40B4-BE49-F238E27FC236}">
                <a16:creationId xmlns:a16="http://schemas.microsoft.com/office/drawing/2014/main" id="{DA5EDE64-17CB-2A12-4F1B-C45A35D55167}"/>
              </a:ext>
            </a:extLst>
          </p:cNvPr>
          <p:cNvGrpSpPr/>
          <p:nvPr/>
        </p:nvGrpSpPr>
        <p:grpSpPr>
          <a:xfrm>
            <a:off x="162076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16" name="Connettore 36">
              <a:extLst>
                <a:ext uri="{FF2B5EF4-FFF2-40B4-BE49-F238E27FC236}">
                  <a16:creationId xmlns:a16="http://schemas.microsoft.com/office/drawing/2014/main" id="{735DC7EB-0CEA-BD97-BF90-2FC6D33920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CasellaDiTesto 38">
              <a:extLst>
                <a:ext uri="{FF2B5EF4-FFF2-40B4-BE49-F238E27FC236}">
                  <a16:creationId xmlns:a16="http://schemas.microsoft.com/office/drawing/2014/main" id="{E0293C98-D080-2532-84A8-2A79443F9A7B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C8F411-B066-2CA7-26AF-FC18455C043C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492C8E-CC03-23EF-E937-83AEAE30A94E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5AB063E-DD4E-0F14-2F00-795CD3A76075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A57B7A9-A3B5-C735-826B-1BC62776DF43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8E27FCF-B72F-73B8-EBDC-C1F848A9064B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93;p14" descr="image.png">
            <a:extLst>
              <a:ext uri="{FF2B5EF4-FFF2-40B4-BE49-F238E27FC236}">
                <a16:creationId xmlns:a16="http://schemas.microsoft.com/office/drawing/2014/main" id="{4A04DFB0-8F59-2411-C41B-C9002E9EE5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4C7C10A4-F4AC-1F92-7175-13712318F04C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39BCB8-D795-DEC5-908D-3CB80F575399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013321-72CD-7305-FF2C-D2944C58F0FB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B98904C-A514-5809-708B-F4F568E96BCF}"/>
              </a:ext>
            </a:extLst>
          </p:cNvPr>
          <p:cNvGrpSpPr/>
          <p:nvPr/>
        </p:nvGrpSpPr>
        <p:grpSpPr>
          <a:xfrm>
            <a:off x="3159907" y="2825353"/>
            <a:ext cx="5872186" cy="2461825"/>
            <a:chOff x="802457" y="2939653"/>
            <a:chExt cx="5872186" cy="2461825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6AC2F0C-CCD3-3222-1051-657137F748B8}"/>
                </a:ext>
              </a:extLst>
            </p:cNvPr>
            <p:cNvGrpSpPr/>
            <p:nvPr/>
          </p:nvGrpSpPr>
          <p:grpSpPr>
            <a:xfrm>
              <a:off x="802558" y="2939653"/>
              <a:ext cx="5872085" cy="794383"/>
              <a:chOff x="802558" y="2939653"/>
              <a:chExt cx="5872085" cy="794383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D76B89C-D0B4-C3EB-214C-452B5FBF310C}"/>
                  </a:ext>
                </a:extLst>
              </p:cNvPr>
              <p:cNvGrpSpPr/>
              <p:nvPr/>
            </p:nvGrpSpPr>
            <p:grpSpPr>
              <a:xfrm>
                <a:off x="802558" y="3127294"/>
                <a:ext cx="419100" cy="419100"/>
                <a:chOff x="762000" y="2968228"/>
                <a:chExt cx="419100" cy="419100"/>
              </a:xfrm>
            </p:grpSpPr>
            <p:pic>
              <p:nvPicPr>
                <p:cNvPr id="153" name="Google Shape;153;p16" descr="image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762000" y="2968228"/>
                  <a:ext cx="4191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0" name="Google Shape;160;p16" descr="image.png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890487" y="3103449"/>
                  <a:ext cx="152400" cy="171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6BFB0AC-D883-23B2-5C03-5EBB0CECC109}"/>
                  </a:ext>
                </a:extLst>
              </p:cNvPr>
              <p:cNvGrpSpPr/>
              <p:nvPr/>
            </p:nvGrpSpPr>
            <p:grpSpPr>
              <a:xfrm>
                <a:off x="1323975" y="2939653"/>
                <a:ext cx="5350668" cy="794383"/>
                <a:chOff x="1323975" y="2939653"/>
                <a:chExt cx="5350668" cy="794383"/>
              </a:xfrm>
            </p:grpSpPr>
            <p:sp>
              <p:nvSpPr>
                <p:cNvPr id="161" name="Google Shape;161;p16"/>
                <p:cNvSpPr txBox="1"/>
                <p:nvPr/>
              </p:nvSpPr>
              <p:spPr>
                <a:xfrm>
                  <a:off x="1323975" y="2939653"/>
                  <a:ext cx="535066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 i="0" u="none" strike="noStrike" cap="none" dirty="0">
                      <a:solidFill>
                        <a:srgbClr val="FFFFFF"/>
                      </a:solidFill>
                      <a:latin typeface="Comfortaa" pitchFamily="2" charset="0"/>
                      <a:ea typeface="Outfit ExtraBold"/>
                      <a:cs typeface="Outfit ExtraBold"/>
                      <a:sym typeface="Outfit ExtraBold"/>
                    </a:rPr>
                    <a:t>STORYTELLING AUTENTICO</a:t>
                  </a:r>
                  <a:endParaRPr sz="1600" b="1" dirty="0">
                    <a:latin typeface="Comfortaa" pitchFamily="2" charset="0"/>
                  </a:endParaRPr>
                </a:p>
              </p:txBody>
            </p:sp>
            <p:sp>
              <p:nvSpPr>
                <p:cNvPr id="162" name="Google Shape;162;p16"/>
                <p:cNvSpPr txBox="1"/>
                <p:nvPr/>
              </p:nvSpPr>
              <p:spPr>
                <a:xfrm>
                  <a:off x="1323975" y="3180038"/>
                  <a:ext cx="5095875" cy="5539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lvl="0"/>
                  <a:r>
                    <a:rPr lang="it-IT" sz="1200" dirty="0">
                      <a:solidFill>
                        <a:srgbClr val="A5A5A5"/>
                      </a:solidFill>
                      <a:latin typeface="Montserrat" pitchFamily="2" charset="0"/>
                      <a:ea typeface="Inter" panose="020B0604020202020204" charset="0"/>
                    </a:rPr>
                    <a:t>Contenuti video settimanali dedicati al "Food Porn" artigianale, al dietro le quinte in cucina e all’esaltazione delle materie prime locali, dalle carni ai vini.</a:t>
                  </a:r>
                  <a:endParaRPr sz="1200" dirty="0">
                    <a:solidFill>
                      <a:srgbClr val="A5A5A5"/>
                    </a:solidFill>
                    <a:latin typeface="Montserrat" pitchFamily="2" charset="0"/>
                    <a:ea typeface="Inter" panose="020B0604020202020204" charset="0"/>
                  </a:endParaRPr>
                </a:p>
              </p:txBody>
            </p:sp>
          </p:grp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224C5E5-92BF-C485-75C7-80DB54F66B69}"/>
                </a:ext>
              </a:extLst>
            </p:cNvPr>
            <p:cNvGrpSpPr/>
            <p:nvPr/>
          </p:nvGrpSpPr>
          <p:grpSpPr>
            <a:xfrm>
              <a:off x="802457" y="4231927"/>
              <a:ext cx="5872186" cy="1169551"/>
              <a:chOff x="802457" y="4231927"/>
              <a:chExt cx="5872186" cy="1169551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CD7187F-E70E-E3FA-9A4B-4F28E081AA9D}"/>
                  </a:ext>
                </a:extLst>
              </p:cNvPr>
              <p:cNvGrpSpPr/>
              <p:nvPr/>
            </p:nvGrpSpPr>
            <p:grpSpPr>
              <a:xfrm>
                <a:off x="802457" y="4607152"/>
                <a:ext cx="419100" cy="419100"/>
                <a:chOff x="746225" y="4672012"/>
                <a:chExt cx="419100" cy="419100"/>
              </a:xfrm>
            </p:grpSpPr>
            <p:pic>
              <p:nvPicPr>
                <p:cNvPr id="154" name="Google Shape;154;p16" descr="image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746225" y="4672012"/>
                  <a:ext cx="4191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3" name="Google Shape;163;p16" descr="image.png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872899" y="4813205"/>
                  <a:ext cx="171450" cy="171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CC45C9B-1D5A-9BEA-5C55-21C70137DFCF}"/>
                  </a:ext>
                </a:extLst>
              </p:cNvPr>
              <p:cNvGrpSpPr/>
              <p:nvPr/>
            </p:nvGrpSpPr>
            <p:grpSpPr>
              <a:xfrm>
                <a:off x="1323975" y="4231927"/>
                <a:ext cx="5350668" cy="1169551"/>
                <a:chOff x="1323975" y="4231927"/>
                <a:chExt cx="5350668" cy="1169551"/>
              </a:xfrm>
            </p:grpSpPr>
            <p:sp>
              <p:nvSpPr>
                <p:cNvPr id="164" name="Google Shape;164;p16"/>
                <p:cNvSpPr txBox="1"/>
                <p:nvPr/>
              </p:nvSpPr>
              <p:spPr>
                <a:xfrm>
                  <a:off x="1323975" y="4231927"/>
                  <a:ext cx="535066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Comfortaa" pitchFamily="2" charset="0"/>
                      <a:sym typeface="Outfit ExtraBold"/>
                    </a:rPr>
                    <a:t>ISPIRAZIONE</a:t>
                  </a:r>
                  <a:endParaRPr sz="1600" b="1" dirty="0">
                    <a:latin typeface="Comfortaa" pitchFamily="2" charset="0"/>
                  </a:endParaRPr>
                </a:p>
              </p:txBody>
            </p:sp>
            <p:sp>
              <p:nvSpPr>
                <p:cNvPr id="165" name="Google Shape;165;p16"/>
                <p:cNvSpPr txBox="1"/>
                <p:nvPr/>
              </p:nvSpPr>
              <p:spPr>
                <a:xfrm>
                  <a:off x="1323975" y="4478148"/>
                  <a:ext cx="5095875" cy="92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lvl="0"/>
                  <a:r>
                    <a:rPr lang="it-IT" sz="1200" dirty="0">
                      <a:solidFill>
                        <a:srgbClr val="A5A5A5"/>
                      </a:solidFill>
                      <a:latin typeface="Montserrat" pitchFamily="2" charset="0"/>
                      <a:ea typeface="Inter" panose="020B0604020202020204" charset="0"/>
                    </a:rPr>
                    <a:t>Ispirandoci al modello di successo del sito web di </a:t>
                  </a:r>
                  <a:r>
                    <a:rPr lang="it-IT" sz="1200" i="1" dirty="0">
                      <a:solidFill>
                        <a:srgbClr val="A5A5A5"/>
                      </a:solidFill>
                      <a:latin typeface="Montserrat" pitchFamily="2" charset="0"/>
                      <a:ea typeface="Inter" panose="020B0604020202020204" charset="0"/>
                    </a:rPr>
                    <a:t>Holy Cow</a:t>
                  </a:r>
                  <a:r>
                    <a:rPr lang="it-IT" sz="1200" dirty="0">
                      <a:solidFill>
                        <a:srgbClr val="A5A5A5"/>
                      </a:solidFill>
                      <a:latin typeface="Montserrat" pitchFamily="2" charset="0"/>
                      <a:ea typeface="Inter" panose="020B0604020202020204" charset="0"/>
                    </a:rPr>
                    <a:t>, puntiamo a creare una piattaforma focalizzata sull'impatto visivo e sulla massima semplicità d'uso. Un percorso utente ottimizzato che riduca a zero i passaggi superflui, convertendo i follower social in clienti attivi e semplificando il delivery. </a:t>
                  </a:r>
                  <a:endParaRPr sz="1800" dirty="0">
                    <a:solidFill>
                      <a:srgbClr val="A5A5A5"/>
                    </a:solidFill>
                    <a:latin typeface="Montserrat" pitchFamily="2" charset="0"/>
                    <a:ea typeface="Inter" panose="020B0604020202020204" charset="0"/>
                  </a:endParaRPr>
                </a:p>
              </p:txBody>
            </p:sp>
          </p:grpSp>
        </p:grpSp>
      </p:grpSp>
      <p:sp>
        <p:nvSpPr>
          <p:cNvPr id="2" name="!!titolo">
            <a:extLst>
              <a:ext uri="{FF2B5EF4-FFF2-40B4-BE49-F238E27FC236}">
                <a16:creationId xmlns:a16="http://schemas.microsoft.com/office/drawing/2014/main" id="{3B5DAF60-87C2-B320-A1F5-453DC60BC802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VISION: ISPIRAZIONE SOCIAL &amp; WEB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8007B796-8DBD-C972-7547-594FC41DAC87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F7310354-AD98-BA06-E87D-2AFCDCA2F74A}"/>
              </a:ext>
            </a:extLst>
          </p:cNvPr>
          <p:cNvGrpSpPr/>
          <p:nvPr/>
        </p:nvGrpSpPr>
        <p:grpSpPr>
          <a:xfrm>
            <a:off x="-686034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BCEE2AC2-7174-170E-EC52-E575897459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20E0378C-595F-6222-3470-E510B0BAA777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EA66EE64-3CE1-3907-85E5-F2771497A100}"/>
              </a:ext>
            </a:extLst>
          </p:cNvPr>
          <p:cNvGrpSpPr/>
          <p:nvPr/>
        </p:nvGrpSpPr>
        <p:grpSpPr>
          <a:xfrm>
            <a:off x="-687161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58FC30E1-4476-AEF5-B793-A350D8F2D0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7DB403CD-2373-B887-0C96-DBFD279572DD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9819B35C-0FD8-AC68-858D-537AEF5BCBAE}"/>
              </a:ext>
            </a:extLst>
          </p:cNvPr>
          <p:cNvGrpSpPr/>
          <p:nvPr/>
        </p:nvGrpSpPr>
        <p:grpSpPr>
          <a:xfrm>
            <a:off x="-69192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F6B4D34B-7A8A-4C7B-472D-02D802DA05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A9663C3E-20D1-27C4-388E-C9AD23E97874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50BE7290-845D-7141-A440-5B49810B2CE1}"/>
              </a:ext>
            </a:extLst>
          </p:cNvPr>
          <p:cNvGrpSpPr/>
          <p:nvPr/>
        </p:nvGrpSpPr>
        <p:grpSpPr>
          <a:xfrm>
            <a:off x="-68537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BBD910E5-FD7C-3891-7F55-535D96D1A1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6C5802A2-A3B3-F452-82F2-DCE003488FFA}"/>
                </a:ext>
              </a:extLst>
            </p:cNvPr>
            <p:cNvSpPr txBox="1"/>
            <p:nvPr/>
          </p:nvSpPr>
          <p:spPr>
            <a:xfrm flipH="1">
              <a:off x="1226995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92517A8-6C97-D17E-111D-57F1DF7E51DC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FAEE826E-D1D4-5F1B-7E61-BDAEABE52094}"/>
              </a:ext>
            </a:extLst>
          </p:cNvPr>
          <p:cNvGrpSpPr/>
          <p:nvPr/>
        </p:nvGrpSpPr>
        <p:grpSpPr>
          <a:xfrm>
            <a:off x="-690456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8163586C-E970-FF3A-6419-62C7C78F9B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9253CEEB-C726-0BF2-A8A2-347735B9AD42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5294EAD7-27FB-941B-3FE2-CECD05704C44}"/>
              </a:ext>
            </a:extLst>
          </p:cNvPr>
          <p:cNvGrpSpPr/>
          <p:nvPr/>
        </p:nvGrpSpPr>
        <p:grpSpPr>
          <a:xfrm>
            <a:off x="150274" y="4161675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EC40E76A-8082-1024-A11F-FE90B758E7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B32AD966-043F-D93A-0E6C-9B9950785BEA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789CF4-8B81-EBA0-0411-3DBED75382B9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20A13A-06E4-360E-A132-AA0EE6C720ED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F09FCBF-98D9-F30F-E625-0919488DFAD5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3AE1BAB-F75D-E1FE-F2F2-B17259B69C29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411B1AF-F54B-4302-3880-1202C0683ED6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Google Shape;136;p15">
            <a:extLst>
              <a:ext uri="{FF2B5EF4-FFF2-40B4-BE49-F238E27FC236}">
                <a16:creationId xmlns:a16="http://schemas.microsoft.com/office/drawing/2014/main" id="{77E30E24-B817-CA81-4942-50CFFB877BB9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Il passaggio dall'advertising passivo a una community attiva e conversazionale.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93;p14" descr="image.png">
            <a:extLst>
              <a:ext uri="{FF2B5EF4-FFF2-40B4-BE49-F238E27FC236}">
                <a16:creationId xmlns:a16="http://schemas.microsoft.com/office/drawing/2014/main" id="{AFE3B35D-81ED-112D-4F42-37602C6BBA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18C5CEA-47E2-E075-A833-D4729E5A8DFB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9D04DCD-3918-E153-F89A-FE37D0F66604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98DDBFC-93F2-8CAA-DB80-EA741F6AC391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625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5875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907638" y="3722357"/>
            <a:ext cx="22328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VISIBILITÀ SOCIAL</a:t>
            </a:r>
            <a:endParaRPr sz="2000" b="1" dirty="0">
              <a:latin typeface="Comfortaa" pitchFamily="2" charset="0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952500" y="4086671"/>
            <a:ext cx="2143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Format video costanti e campagne geolocalizzate per catturare la community locale.</a:t>
            </a:r>
            <a:endParaRPr lang="it-IT" sz="2400" noProof="0" dirty="0">
              <a:latin typeface="Montserrat" pitchFamily="2" charset="0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3979859" y="3718576"/>
            <a:ext cx="15176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APP MOBILE</a:t>
            </a:r>
            <a:endParaRPr sz="2000" b="1" dirty="0">
              <a:latin typeface="Comfortaa" pitchFamily="2" charset="0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698107" y="4086671"/>
            <a:ext cx="21431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Ordinazioni immediate, notifiche push intelligenti e sconti dedicati.</a:t>
            </a:r>
            <a:endParaRPr lang="it-IT" sz="2400" noProof="0" dirty="0">
              <a:latin typeface="Montserrat" pitchFamily="2" charset="0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6275085" y="3718576"/>
            <a:ext cx="235645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SITO ATTRATTIVO</a:t>
            </a:r>
            <a:endParaRPr sz="2000" b="1" dirty="0">
              <a:latin typeface="Comfortaa" pitchFamily="2" charset="0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381748" y="4088116"/>
            <a:ext cx="21431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Sito internet perfettamente ottimizzato per acquisti via smartphone.</a:t>
            </a:r>
            <a:endParaRPr lang="it-IT" sz="2400" noProof="0" dirty="0">
              <a:latin typeface="Montserrat" pitchFamily="2" charset="0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9313487" y="3718576"/>
            <a:ext cx="1708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SOCIAL LOOP</a:t>
            </a:r>
            <a:endParaRPr sz="2000" b="1" dirty="0">
              <a:latin typeface="Comfortaa" pitchFamily="2" charset="0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9096375" y="4086671"/>
            <a:ext cx="2143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P</a:t>
            </a:r>
            <a:r>
              <a:rPr lang="it-IT" sz="1200" b="0" i="0" u="none" strike="noStrike" cap="none" noProof="0" dirty="0">
                <a:solidFill>
                  <a:srgbClr val="9C9C9C"/>
                </a:solidFill>
                <a:latin typeface="Montserrat" pitchFamily="2" charset="0"/>
                <a:ea typeface="Inter"/>
                <a:cs typeface="Inter"/>
                <a:sym typeface="Inter"/>
              </a:rPr>
              <a:t>rofili social per un'esperienza a 360°.</a:t>
            </a:r>
            <a:endParaRPr lang="it-IT" sz="2400" noProof="0" dirty="0">
              <a:latin typeface="Montserrat" pitchFamily="2" charset="0"/>
            </a:endParaRPr>
          </a:p>
        </p:txBody>
      </p:sp>
      <p:pic>
        <p:nvPicPr>
          <p:cNvPr id="186" name="Google Shape;18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52612" y="321658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29149" y="3224207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81862" y="325754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96488" y="327628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!!titolo">
            <a:extLst>
              <a:ext uri="{FF2B5EF4-FFF2-40B4-BE49-F238E27FC236}">
                <a16:creationId xmlns:a16="http://schemas.microsoft.com/office/drawing/2014/main" id="{8439F015-DF20-8AE5-C8FB-FA52A4D1E622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OBIETTIVI DELLA CAMPAGNA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B9349A1C-CB96-5C45-771B-ADFB5BC50E06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A040E3C9-AAB5-1DDC-69F9-67919B402638}"/>
              </a:ext>
            </a:extLst>
          </p:cNvPr>
          <p:cNvGrpSpPr/>
          <p:nvPr/>
        </p:nvGrpSpPr>
        <p:grpSpPr>
          <a:xfrm>
            <a:off x="-686034" y="2340282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0ED15D27-5DB2-BE82-9EA4-B0EA228701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0084013F-97E3-B6AF-48CA-1DE4D49946D6}"/>
                </a:ext>
              </a:extLst>
            </p:cNvPr>
            <p:cNvSpPr txBox="1"/>
            <p:nvPr/>
          </p:nvSpPr>
          <p:spPr>
            <a:xfrm flipH="1">
              <a:off x="12216745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2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0A77F30C-4FEA-B5DA-99F7-7BA5971D0BB9}"/>
              </a:ext>
            </a:extLst>
          </p:cNvPr>
          <p:cNvGrpSpPr/>
          <p:nvPr/>
        </p:nvGrpSpPr>
        <p:grpSpPr>
          <a:xfrm>
            <a:off x="-687161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8A3B4C90-F433-C92E-1194-4C7DAAF69B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35710905-8C7E-C8F8-DC43-CF3F2313ABF1}"/>
                </a:ext>
              </a:extLst>
            </p:cNvPr>
            <p:cNvSpPr txBox="1"/>
            <p:nvPr/>
          </p:nvSpPr>
          <p:spPr>
            <a:xfrm flipH="1">
              <a:off x="12224578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A6DE5050-9AFC-0EFD-413B-BB7F551ADDBA}"/>
              </a:ext>
            </a:extLst>
          </p:cNvPr>
          <p:cNvGrpSpPr/>
          <p:nvPr/>
        </p:nvGrpSpPr>
        <p:grpSpPr>
          <a:xfrm>
            <a:off x="-691929" y="3544795"/>
            <a:ext cx="403012" cy="461666"/>
            <a:chOff x="12192000" y="380719"/>
            <a:chExt cx="684000" cy="783549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797C3FC7-6872-7994-00CB-6F16A8EBE7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1581D9C2-1BD9-922C-8E6A-0FC8A49134F0}"/>
                </a:ext>
              </a:extLst>
            </p:cNvPr>
            <p:cNvSpPr txBox="1"/>
            <p:nvPr/>
          </p:nvSpPr>
          <p:spPr>
            <a:xfrm flipH="1">
              <a:off x="12200084" y="380719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4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EC2E37FB-0107-1EBF-FD2C-4BDBE4BA7D84}"/>
              </a:ext>
            </a:extLst>
          </p:cNvPr>
          <p:cNvGrpSpPr/>
          <p:nvPr/>
        </p:nvGrpSpPr>
        <p:grpSpPr>
          <a:xfrm>
            <a:off x="-687926" y="4161675"/>
            <a:ext cx="403012" cy="461666"/>
            <a:chOff x="12192000" y="391497"/>
            <a:chExt cx="684000" cy="783549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915070F2-E48E-945A-B7AD-62205D3720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5133C468-5D67-5B63-D687-81E50BB59847}"/>
                </a:ext>
              </a:extLst>
            </p:cNvPr>
            <p:cNvSpPr txBox="1"/>
            <p:nvPr/>
          </p:nvSpPr>
          <p:spPr>
            <a:xfrm flipH="1">
              <a:off x="12208168" y="391497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5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09A0AA0C-1D8F-745D-21AB-83A51560EE37}"/>
              </a:ext>
            </a:extLst>
          </p:cNvPr>
          <p:cNvGrpSpPr/>
          <p:nvPr/>
        </p:nvGrpSpPr>
        <p:grpSpPr>
          <a:xfrm>
            <a:off x="-68537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64EE1CA4-3610-8C12-025B-7911690F27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2B78411E-D4DC-BEE7-21D4-1B7A09523CBC}"/>
                </a:ext>
              </a:extLst>
            </p:cNvPr>
            <p:cNvSpPr txBox="1"/>
            <p:nvPr/>
          </p:nvSpPr>
          <p:spPr>
            <a:xfrm flipH="1">
              <a:off x="1226995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785E2E-A882-7FF9-8B63-66271997E043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691B7CBC-2EE8-F9C7-9044-E6C68B8B4AAF}"/>
              </a:ext>
            </a:extLst>
          </p:cNvPr>
          <p:cNvGrpSpPr/>
          <p:nvPr/>
        </p:nvGrpSpPr>
        <p:grpSpPr>
          <a:xfrm>
            <a:off x="162076" y="4761856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B40F7FCE-B02A-9E99-FF7B-31C649F643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0A2FF03D-1CAD-BA90-963D-C14D356F387E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D810D0-0D41-0577-9A08-0831508B1F7C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890E5B-89DD-AE98-DF52-403E52BEBBB1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5" name="Gruppo 35">
            <a:extLst>
              <a:ext uri="{FF2B5EF4-FFF2-40B4-BE49-F238E27FC236}">
                <a16:creationId xmlns:a16="http://schemas.microsoft.com/office/drawing/2014/main" id="{A3D98E7F-3436-DA0E-6C29-19C96B5A3C57}"/>
              </a:ext>
            </a:extLst>
          </p:cNvPr>
          <p:cNvGrpSpPr/>
          <p:nvPr/>
        </p:nvGrpSpPr>
        <p:grpSpPr>
          <a:xfrm>
            <a:off x="-69680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36" name="Connettore 36">
              <a:extLst>
                <a:ext uri="{FF2B5EF4-FFF2-40B4-BE49-F238E27FC236}">
                  <a16:creationId xmlns:a16="http://schemas.microsoft.com/office/drawing/2014/main" id="{0BB52289-FA53-7CD4-DEB3-7462B18537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7" name="CasellaDiTesto 38">
              <a:extLst>
                <a:ext uri="{FF2B5EF4-FFF2-40B4-BE49-F238E27FC236}">
                  <a16:creationId xmlns:a16="http://schemas.microsoft.com/office/drawing/2014/main" id="{00313BB3-37B4-F0EC-3FC8-76DAAA17A668}"/>
                </a:ext>
              </a:extLst>
            </p:cNvPr>
            <p:cNvSpPr txBox="1"/>
            <p:nvPr/>
          </p:nvSpPr>
          <p:spPr>
            <a:xfrm flipH="1">
              <a:off x="1225412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E01BA7BE-0319-F10A-B9E5-C49A6F4D18E6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640A91A-6611-D0F2-2D0A-0FC99DFAEF42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3273C4E-7CA8-5C67-7234-BEA9B0343CB8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Google Shape;136;p15">
            <a:extLst>
              <a:ext uri="{FF2B5EF4-FFF2-40B4-BE49-F238E27FC236}">
                <a16:creationId xmlns:a16="http://schemas.microsoft.com/office/drawing/2014/main" id="{D1EE0EE5-DDFF-718E-4FE9-DF7780331AF3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rPr>
              <a:t>Rafforzare la presenza del brand attraverso una strategia digitale integrata, orientata a visibilità e crescita.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93;p14" descr="image.png">
            <a:extLst>
              <a:ext uri="{FF2B5EF4-FFF2-40B4-BE49-F238E27FC236}">
                <a16:creationId xmlns:a16="http://schemas.microsoft.com/office/drawing/2014/main" id="{01C50B5A-0D5F-C8C1-17BE-049B6D4F78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76CCD3EE-7E8B-DFCE-26AE-6328D38223C8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0" name="Google Shape;200;p18"/>
          <p:cNvSpPr txBox="1"/>
          <p:nvPr/>
        </p:nvSpPr>
        <p:spPr>
          <a:xfrm>
            <a:off x="1095374" y="2786506"/>
            <a:ext cx="58388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it-IT" sz="1200" b="1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rPr>
              <a:t>Strategia Video "Short-Form":</a:t>
            </a:r>
            <a:r>
              <a:rPr lang="it-IT" sz="1200" dirty="0">
                <a:solidFill>
                  <a:srgbClr val="A5A5A5"/>
                </a:solidFill>
                <a:latin typeface="Montserrat" pitchFamily="2" charset="0"/>
                <a:ea typeface="Inter" panose="020B0604020202020204" charset="0"/>
              </a:rPr>
              <a:t> Creazione di contenuti video settimanali dedicati al "Food Porn" artigianale, al dietro le quinte in cucina e all’esaltazione delle materie prime locali.</a:t>
            </a:r>
          </a:p>
        </p:txBody>
      </p:sp>
      <p:sp>
        <p:nvSpPr>
          <p:cNvPr id="201" name="Google Shape;201;p18"/>
          <p:cNvSpPr txBox="1"/>
          <p:nvPr/>
        </p:nvSpPr>
        <p:spPr>
          <a:xfrm>
            <a:off x="1095375" y="3690431"/>
            <a:ext cx="5838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it-IT" sz="1200" b="1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Coinvolgimento della Community: </a:t>
            </a:r>
            <a:r>
              <a:rPr lang="it-IT" sz="120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Gestione attiva delle interazioni per trasformare i follower in fan del brand, costruendo una relazione autentica.</a:t>
            </a:r>
            <a:endParaRPr sz="1600" dirty="0">
              <a:latin typeface="Montserrat" pitchFamily="2" charset="0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1095375" y="4386708"/>
            <a:ext cx="58388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it-IT" sz="1200" b="1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Vendita Conversazionale: </a:t>
            </a:r>
            <a:r>
              <a:rPr lang="it-IT" sz="120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Ottimizzazione dei </a:t>
            </a:r>
            <a:r>
              <a:rPr lang="it-IT" sz="1200" dirty="0" err="1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touchpoint</a:t>
            </a:r>
            <a:r>
              <a:rPr lang="it-IT" sz="120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 social tramite interfacce conversazionali avanzate, per offrire un’esperienza d’acquisto rapida, diretta e sempre attiva.</a:t>
            </a:r>
            <a:endParaRPr sz="1600" dirty="0">
              <a:latin typeface="Montserrat" pitchFamily="2" charset="0"/>
            </a:endParaRPr>
          </a:p>
        </p:txBody>
      </p:sp>
      <p:pic>
        <p:nvPicPr>
          <p:cNvPr id="203" name="Google Shape;20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1591" y="297301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78461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57322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!!titolo">
            <a:extLst>
              <a:ext uri="{FF2B5EF4-FFF2-40B4-BE49-F238E27FC236}">
                <a16:creationId xmlns:a16="http://schemas.microsoft.com/office/drawing/2014/main" id="{BE7721D2-E942-D3C5-8F60-BB0BB3665F4C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3200" b="1" dirty="0">
                <a:solidFill>
                  <a:srgbClr val="F5F5F0"/>
                </a:solidFill>
                <a:latin typeface="Comfortaa" pitchFamily="2" charset="0"/>
              </a:rPr>
              <a:t>SOCIAL PERFORMANCE STRATEGY</a:t>
            </a: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7E384FDE-B166-B092-8DF3-B3FB5DDD1528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7946E9F6-5E4E-F4E5-3164-57962AC03B0B}"/>
              </a:ext>
            </a:extLst>
          </p:cNvPr>
          <p:cNvGrpSpPr/>
          <p:nvPr/>
        </p:nvGrpSpPr>
        <p:grpSpPr>
          <a:xfrm>
            <a:off x="-690456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7315A6CC-FCFF-146A-7867-1573756EC8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6B5E5874-C254-FD14-CF5B-ED0922864729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C5EBBD7F-B9FA-E03E-FB80-E55186C8F741}"/>
              </a:ext>
            </a:extLst>
          </p:cNvPr>
          <p:cNvGrpSpPr/>
          <p:nvPr/>
        </p:nvGrpSpPr>
        <p:grpSpPr>
          <a:xfrm>
            <a:off x="-695219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47AD1D34-25AA-D76A-C1A7-22B5BD34AB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364ED9FA-7112-E172-AEE5-E5D1653C64D3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BB4FEC43-CB58-8775-6252-A90F1D1EB2F6}"/>
              </a:ext>
            </a:extLst>
          </p:cNvPr>
          <p:cNvGrpSpPr/>
          <p:nvPr/>
        </p:nvGrpSpPr>
        <p:grpSpPr>
          <a:xfrm>
            <a:off x="-719038" y="3544795"/>
            <a:ext cx="555411" cy="461665"/>
            <a:chOff x="12151578" y="380719"/>
            <a:chExt cx="942655" cy="783547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58EF4848-934D-0803-64A9-5172B5E4C8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0EFB1954-B4E4-4564-5570-62C1C2C19CD4}"/>
                </a:ext>
              </a:extLst>
            </p:cNvPr>
            <p:cNvSpPr txBox="1"/>
            <p:nvPr/>
          </p:nvSpPr>
          <p:spPr>
            <a:xfrm flipH="1">
              <a:off x="12151578" y="380719"/>
              <a:ext cx="94265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D5B19DD1-979A-660D-9FFC-A1DE66C625AA}"/>
              </a:ext>
            </a:extLst>
          </p:cNvPr>
          <p:cNvGrpSpPr/>
          <p:nvPr/>
        </p:nvGrpSpPr>
        <p:grpSpPr>
          <a:xfrm>
            <a:off x="-704743" y="4156913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AAF43165-D7FA-1B75-229C-815CB96F7E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1D21EFD4-1725-A380-11A4-A092464F40E1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23AFEB26-45C7-CAC2-6F70-1A42887BFB50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4AFEC60B-29DC-5A20-D2C5-1D1CED5A29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1F88C713-DA92-2244-6402-4F2691F26955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EB2854D-2C89-ECC3-7D30-E5427442E30C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3" name="Gruppo 35">
            <a:extLst>
              <a:ext uri="{FF2B5EF4-FFF2-40B4-BE49-F238E27FC236}">
                <a16:creationId xmlns:a16="http://schemas.microsoft.com/office/drawing/2014/main" id="{698DBC96-942F-8E79-4EDC-7BB43B874AB2}"/>
              </a:ext>
            </a:extLst>
          </p:cNvPr>
          <p:cNvGrpSpPr/>
          <p:nvPr/>
        </p:nvGrpSpPr>
        <p:grpSpPr>
          <a:xfrm>
            <a:off x="-764263" y="4757642"/>
            <a:ext cx="403012" cy="461666"/>
            <a:chOff x="12192000" y="382941"/>
            <a:chExt cx="684000" cy="783549"/>
          </a:xfrm>
          <a:solidFill>
            <a:schemeClr val="bg1"/>
          </a:solidFill>
        </p:grpSpPr>
        <p:sp>
          <p:nvSpPr>
            <p:cNvPr id="24" name="Connettore 36">
              <a:extLst>
                <a:ext uri="{FF2B5EF4-FFF2-40B4-BE49-F238E27FC236}">
                  <a16:creationId xmlns:a16="http://schemas.microsoft.com/office/drawing/2014/main" id="{98A03CF5-962E-2C22-75EA-063449E237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CasellaDiTesto 38">
              <a:extLst>
                <a:ext uri="{FF2B5EF4-FFF2-40B4-BE49-F238E27FC236}">
                  <a16:creationId xmlns:a16="http://schemas.microsoft.com/office/drawing/2014/main" id="{B715C1D7-A8CC-D0BF-63ED-3E90A1229E46}"/>
                </a:ext>
              </a:extLst>
            </p:cNvPr>
            <p:cNvSpPr txBox="1"/>
            <p:nvPr/>
          </p:nvSpPr>
          <p:spPr>
            <a:xfrm flipH="1">
              <a:off x="12216493" y="382941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6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14161D85-6980-314D-C8DC-3BF17EDC01D4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86E8B8-C51D-F0FD-33EB-C5DB0AC7A10D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A6B003-A8CC-6069-DCC3-58A4CBDE1127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5" name="Gruppo 35">
            <a:extLst>
              <a:ext uri="{FF2B5EF4-FFF2-40B4-BE49-F238E27FC236}">
                <a16:creationId xmlns:a16="http://schemas.microsoft.com/office/drawing/2014/main" id="{CB0FA14C-004C-04FD-E11E-6EDA4099D457}"/>
              </a:ext>
            </a:extLst>
          </p:cNvPr>
          <p:cNvGrpSpPr/>
          <p:nvPr/>
        </p:nvGrpSpPr>
        <p:grpSpPr>
          <a:xfrm>
            <a:off x="160444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56" name="Connettore 36">
              <a:extLst>
                <a:ext uri="{FF2B5EF4-FFF2-40B4-BE49-F238E27FC236}">
                  <a16:creationId xmlns:a16="http://schemas.microsoft.com/office/drawing/2014/main" id="{89E9BB3F-33C4-BD21-9BFF-8BB4E5D95E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7" name="CasellaDiTesto 38">
              <a:extLst>
                <a:ext uri="{FF2B5EF4-FFF2-40B4-BE49-F238E27FC236}">
                  <a16:creationId xmlns:a16="http://schemas.microsoft.com/office/drawing/2014/main" id="{4C40EA37-4FCD-B093-9F54-D3CBE562F3C4}"/>
                </a:ext>
              </a:extLst>
            </p:cNvPr>
            <p:cNvSpPr txBox="1"/>
            <p:nvPr/>
          </p:nvSpPr>
          <p:spPr>
            <a:xfrm flipH="1">
              <a:off x="1225412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7D606C69-0B05-E6AF-089F-AEBB62DDFCE0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0A9CC15-C6BA-4E71-F80E-7A6939C433CB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F4F37C4-7832-C3B6-F68F-033252442C12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4BA56B7-84E5-C028-711F-61544876D589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Google Shape;136;p15">
            <a:extLst>
              <a:ext uri="{FF2B5EF4-FFF2-40B4-BE49-F238E27FC236}">
                <a16:creationId xmlns:a16="http://schemas.microsoft.com/office/drawing/2014/main" id="{475B095F-A708-EE71-18A0-C01EEC7B88DC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Implementazione del "Social Loop“.</a:t>
            </a:r>
            <a:endParaRPr lang="it-IT" sz="1200" noProof="0" dirty="0">
              <a:latin typeface="Montserrat" pitchFamily="2" charset="0"/>
            </a:endParaRPr>
          </a:p>
        </p:txBody>
      </p:sp>
      <p:pic>
        <p:nvPicPr>
          <p:cNvPr id="19" name="Video FOOD">
            <a:hlinkClick r:id="" action="ppaction://media"/>
            <a:extLst>
              <a:ext uri="{FF2B5EF4-FFF2-40B4-BE49-F238E27FC236}">
                <a16:creationId xmlns:a16="http://schemas.microsoft.com/office/drawing/2014/main" id="{99BAF031-6B54-FF45-6D71-3F15E31B6A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934199" y="2482734"/>
            <a:ext cx="4950622" cy="2784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2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93;p14" descr="image.png">
            <a:extLst>
              <a:ext uri="{FF2B5EF4-FFF2-40B4-BE49-F238E27FC236}">
                <a16:creationId xmlns:a16="http://schemas.microsoft.com/office/drawing/2014/main" id="{092E546F-0C8B-89EE-140A-CFDB1198EA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B5398A6F-BDDE-5330-DAEA-B7F425D26CED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5812C32-51CD-C1FB-A508-C0593E461444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A4C33B2-F200-2EF6-5D26-28CEFFA1775F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6" name="Google Shape;216;p19"/>
          <p:cNvSpPr txBox="1"/>
          <p:nvPr/>
        </p:nvSpPr>
        <p:spPr>
          <a:xfrm>
            <a:off x="1095374" y="2862230"/>
            <a:ext cx="5838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UX Semplificata (3 Click):</a:t>
            </a:r>
            <a:r>
              <a:rPr lang="it-IT" sz="1200" b="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 Interfaccia minimale pensata per un utilizzo rapido </a:t>
            </a:r>
            <a:r>
              <a:rPr lang="it-IT" sz="1200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e connesso alle app di messaggistica principali.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1095375" y="3708052"/>
            <a:ext cx="5838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Notifiche Push Geolocalizzate:</a:t>
            </a:r>
            <a:r>
              <a:rPr lang="it-IT" sz="1200" b="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 Avvisi contestuali, sincronizzati con data, ora e posizione.</a:t>
            </a:r>
            <a:endParaRPr lang="it-IT" sz="1600" noProof="0" dirty="0">
              <a:latin typeface="Montserrat" pitchFamily="2" charset="0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1095373" y="4581532"/>
            <a:ext cx="5838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Pagamenti One-Touch: </a:t>
            </a:r>
            <a:r>
              <a:rPr lang="it-IT" sz="1200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D</a:t>
            </a:r>
            <a:r>
              <a:rPr lang="it-IT" sz="120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elivery super intuitive e</a:t>
            </a:r>
            <a:r>
              <a:rPr lang="it-IT" sz="1200" b="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 </a:t>
            </a:r>
            <a:r>
              <a:rPr lang="it-IT" sz="1200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i</a:t>
            </a:r>
            <a:r>
              <a:rPr lang="it-IT" sz="1200" b="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ntegrazione fluida con Apple Pay, Google Pay e I principali Metodi di pagamento elettronici.</a:t>
            </a:r>
            <a:endParaRPr lang="it-IT" sz="1600" noProof="0" dirty="0">
              <a:latin typeface="Montserrat" pitchFamily="2" charset="0"/>
            </a:endParaRPr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010" y="2956409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80223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4675711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!!titolo">
            <a:extLst>
              <a:ext uri="{FF2B5EF4-FFF2-40B4-BE49-F238E27FC236}">
                <a16:creationId xmlns:a16="http://schemas.microsoft.com/office/drawing/2014/main" id="{897F8742-9867-1841-AA05-51988548F429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MOBILE &amp; DELIVERY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16119C74-0603-9AFC-15C8-D268272B195A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ruppo 35">
            <a:extLst>
              <a:ext uri="{FF2B5EF4-FFF2-40B4-BE49-F238E27FC236}">
                <a16:creationId xmlns:a16="http://schemas.microsoft.com/office/drawing/2014/main" id="{858249F9-8845-9C47-3415-2CD2BF1C7756}"/>
              </a:ext>
            </a:extLst>
          </p:cNvPr>
          <p:cNvGrpSpPr/>
          <p:nvPr/>
        </p:nvGrpSpPr>
        <p:grpSpPr>
          <a:xfrm>
            <a:off x="-695219" y="2932677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C3AD3BD9-D62A-CB6D-B33F-D6A25E5BC4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9B6FD889-71BC-38D3-F550-005347D8DC7E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12DD7F96-9D41-A38B-2776-11DF332D99D2}"/>
              </a:ext>
            </a:extLst>
          </p:cNvPr>
          <p:cNvGrpSpPr/>
          <p:nvPr/>
        </p:nvGrpSpPr>
        <p:grpSpPr>
          <a:xfrm>
            <a:off x="-719038" y="3544795"/>
            <a:ext cx="555411" cy="461665"/>
            <a:chOff x="12151578" y="380719"/>
            <a:chExt cx="942655" cy="783547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2A23984D-23C9-1FEB-DC12-90D3A0E4E1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DFCC7A6A-E6A8-41CD-5B0D-3EFBC55FEFAD}"/>
                </a:ext>
              </a:extLst>
            </p:cNvPr>
            <p:cNvSpPr txBox="1"/>
            <p:nvPr/>
          </p:nvSpPr>
          <p:spPr>
            <a:xfrm flipH="1">
              <a:off x="12151578" y="380719"/>
              <a:ext cx="94265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064A9851-AA1D-62DB-EC93-FE13C85C5645}"/>
              </a:ext>
            </a:extLst>
          </p:cNvPr>
          <p:cNvGrpSpPr/>
          <p:nvPr/>
        </p:nvGrpSpPr>
        <p:grpSpPr>
          <a:xfrm>
            <a:off x="-704743" y="4156913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A04BA08E-43E9-9F66-1611-CB373723A1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320ECBC9-6D13-2063-800B-E3891E9543A9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E63F07-9EDD-E55C-374D-5943F3D750C4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6FC081BD-BF40-8220-7AD8-483302D3C8D7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83D1FA46-DAA6-0F14-C8C4-4093B033EF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A6970441-71ED-8D98-1DFD-3F573754EAD4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5" name="Gruppo 35">
            <a:extLst>
              <a:ext uri="{FF2B5EF4-FFF2-40B4-BE49-F238E27FC236}">
                <a16:creationId xmlns:a16="http://schemas.microsoft.com/office/drawing/2014/main" id="{8FA64669-7923-61A6-B8FF-1DB2781EC4E9}"/>
              </a:ext>
            </a:extLst>
          </p:cNvPr>
          <p:cNvGrpSpPr/>
          <p:nvPr/>
        </p:nvGrpSpPr>
        <p:grpSpPr>
          <a:xfrm>
            <a:off x="166668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77AF93F7-A920-50A0-1D2D-6AC180E5D7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7B3A9970-985B-A194-DA3F-6469CFFE6584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675BAB-4DD1-A8E2-ED11-2FC31CECEE91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F66A33-D63A-6691-3C5B-4908ECE128B3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7" name="Gruppo 35">
            <a:extLst>
              <a:ext uri="{FF2B5EF4-FFF2-40B4-BE49-F238E27FC236}">
                <a16:creationId xmlns:a16="http://schemas.microsoft.com/office/drawing/2014/main" id="{08F401B5-86CA-1B58-3E07-F510A9D9A571}"/>
              </a:ext>
            </a:extLst>
          </p:cNvPr>
          <p:cNvGrpSpPr/>
          <p:nvPr/>
        </p:nvGrpSpPr>
        <p:grpSpPr>
          <a:xfrm>
            <a:off x="-696806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28" name="Connettore 36">
              <a:extLst>
                <a:ext uri="{FF2B5EF4-FFF2-40B4-BE49-F238E27FC236}">
                  <a16:creationId xmlns:a16="http://schemas.microsoft.com/office/drawing/2014/main" id="{41F58776-2CC3-D72C-D5E4-8EDF725CCA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9" name="CasellaDiTesto 38">
              <a:extLst>
                <a:ext uri="{FF2B5EF4-FFF2-40B4-BE49-F238E27FC236}">
                  <a16:creationId xmlns:a16="http://schemas.microsoft.com/office/drawing/2014/main" id="{8059769C-3024-B4FF-F6C0-58D1FDA04869}"/>
                </a:ext>
              </a:extLst>
            </p:cNvPr>
            <p:cNvSpPr txBox="1"/>
            <p:nvPr/>
          </p:nvSpPr>
          <p:spPr>
            <a:xfrm flipH="1">
              <a:off x="12254125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3EDF0012-36AE-A73B-9D9E-632429593FC6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1C23C1-9B2D-4F73-1FA9-0A579B2E3911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17BD706-644C-6B08-7CE3-019DB955007C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Google Shape;136;p15">
            <a:extLst>
              <a:ext uri="{FF2B5EF4-FFF2-40B4-BE49-F238E27FC236}">
                <a16:creationId xmlns:a16="http://schemas.microsoft.com/office/drawing/2014/main" id="{9E06D325-4077-3E0C-450E-7E465F589EF7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Ecosistema Mobile-First ad alta conversione</a:t>
            </a:r>
            <a:endParaRPr lang="it-IT" sz="1200" dirty="0">
              <a:latin typeface="Montserrat" pitchFamily="2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6E976D1-055E-30AC-C7D8-D2A97E3366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41" t="1" r="1520" b="35"/>
          <a:stretch>
            <a:fillRect/>
          </a:stretch>
        </p:blipFill>
        <p:spPr>
          <a:xfrm>
            <a:off x="7984304" y="668768"/>
            <a:ext cx="2996754" cy="5752054"/>
          </a:xfrm>
          <a:custGeom>
            <a:avLst/>
            <a:gdLst>
              <a:gd name="csX0" fmla="*/ 175275 w 2996754"/>
              <a:gd name="csY0" fmla="*/ 0 h 5752054"/>
              <a:gd name="csX1" fmla="*/ 2821480 w 2996754"/>
              <a:gd name="csY1" fmla="*/ 0 h 5752054"/>
              <a:gd name="csX2" fmla="*/ 2883515 w 2996754"/>
              <a:gd name="csY2" fmla="*/ 12524 h 5752054"/>
              <a:gd name="csX3" fmla="*/ 2996754 w 2996754"/>
              <a:gd name="csY3" fmla="*/ 183363 h 5752054"/>
              <a:gd name="csX4" fmla="*/ 2996754 w 2996754"/>
              <a:gd name="csY4" fmla="*/ 5566645 h 5752054"/>
              <a:gd name="csX5" fmla="*/ 2811345 w 2996754"/>
              <a:gd name="csY5" fmla="*/ 5752054 h 5752054"/>
              <a:gd name="csX6" fmla="*/ 185409 w 2996754"/>
              <a:gd name="csY6" fmla="*/ 5752054 h 5752054"/>
              <a:gd name="csX7" fmla="*/ 0 w 2996754"/>
              <a:gd name="csY7" fmla="*/ 5566645 h 5752054"/>
              <a:gd name="csX8" fmla="*/ 0 w 2996754"/>
              <a:gd name="csY8" fmla="*/ 183363 h 5752054"/>
              <a:gd name="csX9" fmla="*/ 113240 w 2996754"/>
              <a:gd name="csY9" fmla="*/ 12524 h 57520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996754" h="5752054">
                <a:moveTo>
                  <a:pt x="175275" y="0"/>
                </a:moveTo>
                <a:lnTo>
                  <a:pt x="2821480" y="0"/>
                </a:lnTo>
                <a:lnTo>
                  <a:pt x="2883515" y="12524"/>
                </a:lnTo>
                <a:cubicBezTo>
                  <a:pt x="2950061" y="40671"/>
                  <a:pt x="2996754" y="106564"/>
                  <a:pt x="2996754" y="183363"/>
                </a:cubicBezTo>
                <a:lnTo>
                  <a:pt x="2996754" y="5566645"/>
                </a:lnTo>
                <a:cubicBezTo>
                  <a:pt x="2996754" y="5669044"/>
                  <a:pt x="2913744" y="5752054"/>
                  <a:pt x="2811345" y="5752054"/>
                </a:cubicBezTo>
                <a:lnTo>
                  <a:pt x="185409" y="5752054"/>
                </a:lnTo>
                <a:cubicBezTo>
                  <a:pt x="83010" y="5752054"/>
                  <a:pt x="0" y="5669044"/>
                  <a:pt x="0" y="5566645"/>
                </a:cubicBezTo>
                <a:lnTo>
                  <a:pt x="0" y="183363"/>
                </a:lnTo>
                <a:cubicBezTo>
                  <a:pt x="0" y="106564"/>
                  <a:pt x="46693" y="40671"/>
                  <a:pt x="113240" y="12524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93;p14" descr="image.png">
            <a:extLst>
              <a:ext uri="{FF2B5EF4-FFF2-40B4-BE49-F238E27FC236}">
                <a16:creationId xmlns:a16="http://schemas.microsoft.com/office/drawing/2014/main" id="{CDDEBAD9-3466-5FAC-E264-58100D34A9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AA27F6AC-13EE-FEE4-D2D3-E382129E4965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9EEBC60-646C-CC1D-3451-4732ED353750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E1EC03-5C4D-3611-CEFF-E981A0FAE3D9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C000C993-DB0A-B7F0-1363-07A6510782A0}"/>
              </a:ext>
            </a:extLst>
          </p:cNvPr>
          <p:cNvGrpSpPr/>
          <p:nvPr/>
        </p:nvGrpSpPr>
        <p:grpSpPr>
          <a:xfrm>
            <a:off x="992266" y="3551961"/>
            <a:ext cx="4730591" cy="721757"/>
            <a:chOff x="1104900" y="3294905"/>
            <a:chExt cx="4730591" cy="72175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23C781-F87D-CBC5-7D9A-2640FE74C229}"/>
                </a:ext>
              </a:extLst>
            </p:cNvPr>
            <p:cNvGrpSpPr/>
            <p:nvPr/>
          </p:nvGrpSpPr>
          <p:grpSpPr>
            <a:xfrm>
              <a:off x="1104900" y="3294905"/>
              <a:ext cx="4730591" cy="721757"/>
              <a:chOff x="1104900" y="3294905"/>
              <a:chExt cx="4730591" cy="721757"/>
            </a:xfrm>
          </p:grpSpPr>
          <p:sp>
            <p:nvSpPr>
              <p:cNvPr id="232" name="Google Shape;232;p20"/>
              <p:cNvSpPr txBox="1"/>
              <p:nvPr/>
            </p:nvSpPr>
            <p:spPr>
              <a:xfrm>
                <a:off x="1104900" y="3294905"/>
                <a:ext cx="473059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667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i="0" u="none" strike="noStrike" cap="none" dirty="0">
                    <a:solidFill>
                      <a:srgbClr val="F95707"/>
                    </a:solidFill>
                    <a:latin typeface="Comfortaa" pitchFamily="2" charset="0"/>
                    <a:ea typeface="Outfit ExtraBold"/>
                    <a:cs typeface="Outfit ExtraBold"/>
                    <a:sym typeface="Outfit ExtraBold"/>
                  </a:rPr>
                  <a:t>VELOCITÀ E PERFORMANCE</a:t>
                </a:r>
                <a:endParaRPr sz="1600" b="1" dirty="0">
                  <a:latin typeface="Comfortaa" pitchFamily="2" charset="0"/>
                </a:endParaRPr>
              </a:p>
            </p:txBody>
          </p:sp>
          <p:sp>
            <p:nvSpPr>
              <p:cNvPr id="233" name="Google Shape;233;p20"/>
              <p:cNvSpPr txBox="1"/>
              <p:nvPr/>
            </p:nvSpPr>
            <p:spPr>
              <a:xfrm>
                <a:off x="1104900" y="3647330"/>
                <a:ext cx="450532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200" noProof="0" dirty="0">
                    <a:solidFill>
                      <a:srgbClr val="A3A3A3"/>
                    </a:solidFill>
                    <a:latin typeface="Montserrat" pitchFamily="2" charset="0"/>
                    <a:ea typeface="Inter"/>
                    <a:cs typeface="Inter"/>
                    <a:sym typeface="Inter"/>
                  </a:rPr>
                  <a:t>P</a:t>
                </a:r>
                <a:r>
                  <a:rPr lang="it-IT" sz="1200" b="0" i="0" u="none" strike="noStrike" cap="none" noProof="0" dirty="0">
                    <a:solidFill>
                      <a:srgbClr val="A3A3A3"/>
                    </a:solidFill>
                    <a:latin typeface="Montserrat" pitchFamily="2" charset="0"/>
                    <a:ea typeface="Inter"/>
                    <a:cs typeface="Inter"/>
                    <a:sym typeface="Inter"/>
                  </a:rPr>
                  <a:t>ortale web è leggerissimo e ottimizzato per caricamento istantaneao anche sotto copertura di rete minima.</a:t>
                </a:r>
                <a:endParaRPr lang="it-IT" sz="1800" noProof="0" dirty="0">
                  <a:latin typeface="Montserrat" pitchFamily="2" charset="0"/>
                </a:endParaRPr>
              </a:p>
            </p:txBody>
          </p:sp>
        </p:grpSp>
        <p:pic>
          <p:nvPicPr>
            <p:cNvPr id="236" name="Google Shape;236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04900" y="3316699"/>
              <a:ext cx="171450" cy="19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79E1A0A-6964-FB93-FCCE-798CA12DD779}"/>
              </a:ext>
            </a:extLst>
          </p:cNvPr>
          <p:cNvGrpSpPr/>
          <p:nvPr/>
        </p:nvGrpSpPr>
        <p:grpSpPr>
          <a:xfrm>
            <a:off x="6469141" y="3546711"/>
            <a:ext cx="4730593" cy="907708"/>
            <a:chOff x="6581774" y="3381988"/>
            <a:chExt cx="4730593" cy="907708"/>
          </a:xfrm>
        </p:grpSpPr>
        <p:sp>
          <p:nvSpPr>
            <p:cNvPr id="234" name="Google Shape;234;p20"/>
            <p:cNvSpPr txBox="1"/>
            <p:nvPr/>
          </p:nvSpPr>
          <p:spPr>
            <a:xfrm>
              <a:off x="6581776" y="3381988"/>
              <a:ext cx="47305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812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F95707"/>
                  </a:solidFill>
                  <a:latin typeface="Comfortaa" pitchFamily="2" charset="0"/>
                  <a:ea typeface="Outfit ExtraBold"/>
                  <a:cs typeface="Outfit ExtraBold"/>
                  <a:sym typeface="Outfit ExtraBold"/>
                </a:rPr>
                <a:t>APPROCCIO MOBILE-FIRST</a:t>
              </a:r>
              <a:endParaRPr sz="1600" b="1" dirty="0">
                <a:latin typeface="Comfortaa" pitchFamily="2" charset="0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6581774" y="3735698"/>
              <a:ext cx="450532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b="0" i="0" u="none" strike="noStrike" cap="none" noProof="0" dirty="0">
                  <a:solidFill>
                    <a:srgbClr val="A3A3A3"/>
                  </a:solidFill>
                  <a:latin typeface="Montserrat" pitchFamily="2" charset="0"/>
                  <a:ea typeface="Inter"/>
                  <a:cs typeface="Inter"/>
                  <a:sym typeface="Inter"/>
                </a:rPr>
                <a:t>Dedign mobile-first ad alte prestazioni studiato per garantire un’esperienza d’ordine fluida e intuitive su ogni schermo.</a:t>
              </a:r>
              <a:endParaRPr lang="it-IT" sz="1800" noProof="0" dirty="0">
                <a:latin typeface="Montserrat" pitchFamily="2" charset="0"/>
              </a:endParaRPr>
            </a:p>
          </p:txBody>
        </p:sp>
        <p:pic>
          <p:nvPicPr>
            <p:cNvPr id="237" name="Google Shape;237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81774" y="3381988"/>
              <a:ext cx="142875" cy="190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!!titolo">
            <a:extLst>
              <a:ext uri="{FF2B5EF4-FFF2-40B4-BE49-F238E27FC236}">
                <a16:creationId xmlns:a16="http://schemas.microsoft.com/office/drawing/2014/main" id="{75DC07E0-B95F-250F-27F3-8AAA44819E1F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SITO ATTRATTIVO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13F97570-48C7-7C1D-DA45-5E64511AD1A4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95AB7854-4236-7602-66C8-5875D8B9BE61}"/>
              </a:ext>
            </a:extLst>
          </p:cNvPr>
          <p:cNvGrpSpPr/>
          <p:nvPr/>
        </p:nvGrpSpPr>
        <p:grpSpPr>
          <a:xfrm>
            <a:off x="-690595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11DDD61D-2558-5100-4390-7DDD267B2E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1A41E078-28D1-A54A-2A2B-71EFE5D88F26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F4762B32-C9C1-2B5E-C4A2-E548B1914168}"/>
              </a:ext>
            </a:extLst>
          </p:cNvPr>
          <p:cNvGrpSpPr/>
          <p:nvPr/>
        </p:nvGrpSpPr>
        <p:grpSpPr>
          <a:xfrm>
            <a:off x="-704743" y="4156913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D781D12E-86C5-D735-E566-EEBDBB12ED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B6B0D3BA-39D8-4889-1493-6512ED70A578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46E55FBB-64F8-7B93-6586-811E26FC145C}"/>
              </a:ext>
            </a:extLst>
          </p:cNvPr>
          <p:cNvGrpSpPr/>
          <p:nvPr/>
        </p:nvGrpSpPr>
        <p:grpSpPr>
          <a:xfrm>
            <a:off x="-689671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BB47F2A6-44EE-B446-139E-40D8232DEF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4325792F-6967-718E-DC3A-6E53B9BBADA9}"/>
                </a:ext>
              </a:extLst>
            </p:cNvPr>
            <p:cNvSpPr txBox="1"/>
            <p:nvPr/>
          </p:nvSpPr>
          <p:spPr>
            <a:xfrm flipH="1">
              <a:off x="12253787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B13676-76E1-EFF8-3F00-605772159E2F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B4543F79-BB2B-EBD5-241A-016F3E645964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1A606275-7644-DB9F-EFCA-3A407ACDD3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8C97F855-B9B6-CA63-7274-D90E9B38118B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416BFDC1-6FFC-6C8A-388D-A68C65101027}"/>
              </a:ext>
            </a:extLst>
          </p:cNvPr>
          <p:cNvGrpSpPr/>
          <p:nvPr/>
        </p:nvGrpSpPr>
        <p:grpSpPr>
          <a:xfrm>
            <a:off x="162076" y="2938014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F7A86559-AEB5-2CF2-6D3E-20C8C0B129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7761786F-E6B8-B879-E285-4B7279CD0F18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25" name="Gruppo 35">
            <a:extLst>
              <a:ext uri="{FF2B5EF4-FFF2-40B4-BE49-F238E27FC236}">
                <a16:creationId xmlns:a16="http://schemas.microsoft.com/office/drawing/2014/main" id="{CCF487D3-6BA7-FD41-0DF9-051A10ADC32B}"/>
              </a:ext>
            </a:extLst>
          </p:cNvPr>
          <p:cNvGrpSpPr/>
          <p:nvPr/>
        </p:nvGrpSpPr>
        <p:grpSpPr>
          <a:xfrm>
            <a:off x="-727160" y="3533423"/>
            <a:ext cx="476139" cy="461665"/>
            <a:chOff x="12129943" y="361097"/>
            <a:chExt cx="808113" cy="783547"/>
          </a:xfrm>
          <a:solidFill>
            <a:schemeClr val="bg1"/>
          </a:solidFill>
        </p:grpSpPr>
        <p:sp>
          <p:nvSpPr>
            <p:cNvPr id="26" name="Connettore 36">
              <a:extLst>
                <a:ext uri="{FF2B5EF4-FFF2-40B4-BE49-F238E27FC236}">
                  <a16:creationId xmlns:a16="http://schemas.microsoft.com/office/drawing/2014/main" id="{95655E94-BA70-F379-5CFD-AA438C4FF2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CasellaDiTesto 38">
              <a:extLst>
                <a:ext uri="{FF2B5EF4-FFF2-40B4-BE49-F238E27FC236}">
                  <a16:creationId xmlns:a16="http://schemas.microsoft.com/office/drawing/2014/main" id="{4088B142-CBD4-CF19-8CF7-ACAF078E32AB}"/>
                </a:ext>
              </a:extLst>
            </p:cNvPr>
            <p:cNvSpPr txBox="1"/>
            <p:nvPr/>
          </p:nvSpPr>
          <p:spPr>
            <a:xfrm flipH="1">
              <a:off x="12129943" y="361097"/>
              <a:ext cx="808113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769036-2FFD-C345-D6EF-7E65E5E644B7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B47D1FC-853A-2597-E3CC-532D9ACF1909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D2057ED-92B3-EE13-70A7-D29928EC03D0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CC53D4F-2D2B-5CCC-EA83-001858F51156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9075D88-198A-E460-686E-52BD290D223F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Google Shape;136;p15">
            <a:extLst>
              <a:ext uri="{FF2B5EF4-FFF2-40B4-BE49-F238E27FC236}">
                <a16:creationId xmlns:a16="http://schemas.microsoft.com/office/drawing/2014/main" id="{BA4CE50B-2F28-8737-546C-EFF33588070D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Progettato specificamente per le esigenze del mobile web</a:t>
            </a:r>
            <a:endParaRPr lang="it-IT" sz="120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CFF8F7AC-13E0-C743-9EB8-F69D6F84F1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6AC83E6E-1981-990E-AD3E-6EB17A32CA13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81FEF63-5C8A-94A8-43C5-1E9D3044A68A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0EDAF44-E5B5-A66F-C975-94C6EA067AA2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6" name="Google Shape;246;p21"/>
          <p:cNvSpPr txBox="1"/>
          <p:nvPr/>
        </p:nvSpPr>
        <p:spPr>
          <a:xfrm>
            <a:off x="762000" y="2624137"/>
            <a:ext cx="51006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ETICA</a:t>
            </a:r>
            <a:r>
              <a:rPr lang="en-US" sz="1800" b="1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 E 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TERRITORIO </a:t>
            </a:r>
            <a:endParaRPr b="1" dirty="0">
              <a:latin typeface="Comfortaa" pitchFamily="2" charset="0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762000" y="3005137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Uniamo la convenienza delle promozioni a un posizionamento distintivo.</a:t>
            </a:r>
            <a:endParaRPr lang="it-IT" sz="1600" noProof="0" dirty="0">
              <a:solidFill>
                <a:srgbClr val="298D68"/>
              </a:solidFill>
              <a:latin typeface="Montserrat" pitchFamily="2" charset="0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117996" y="3669343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Le persone prima del prodotto: </a:t>
            </a:r>
            <a:r>
              <a:rPr lang="it-IT" sz="1200" i="0" u="none" strike="noStrike" cap="none" noProof="0" dirty="0">
                <a:solidFill>
                  <a:srgbClr val="B3B3B3"/>
                </a:solidFill>
                <a:latin typeface="Montserrat" pitchFamily="2" charset="0"/>
                <a:ea typeface="Inter"/>
                <a:cs typeface="Inter"/>
                <a:sym typeface="Inter"/>
              </a:rPr>
              <a:t>Costruiamo valore attraverso filiere trasparenti, patership durature con I produttori locali e una selezione guidata dalla qualità, non dal Prezzo.</a:t>
            </a:r>
            <a:endParaRPr lang="it-IT" sz="1600" b="1" noProof="0" dirty="0">
              <a:latin typeface="Montserrat" pitchFamily="2" charset="0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1117996" y="4624386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solidFill>
                  <a:srgbClr val="B3B3B3"/>
                </a:solidFill>
                <a:latin typeface="Montserrat" pitchFamily="2" charset="0"/>
                <a:ea typeface="Inter"/>
                <a:sym typeface="Inter"/>
              </a:rPr>
              <a:t>Ogni store racconta il luogo in cui nasce: </a:t>
            </a:r>
            <a:r>
              <a:rPr lang="it-IT" sz="1200" dirty="0">
                <a:solidFill>
                  <a:srgbClr val="B3B3B3"/>
                </a:solidFill>
                <a:latin typeface="Montserrat" pitchFamily="2" charset="0"/>
                <a:ea typeface="Inter"/>
                <a:sym typeface="Inter"/>
              </a:rPr>
              <a:t>ogni apertura valorizza eccellenze locali, trasformando ingredienti del territorio in panini e piatti unici che non potrebbero esistere altrove.</a:t>
            </a:r>
            <a:endParaRPr lang="it-IT" sz="1600" dirty="0">
              <a:latin typeface="Montserrat" pitchFamily="2" charset="0"/>
            </a:endParaRPr>
          </a:p>
        </p:txBody>
      </p:sp>
      <p:pic>
        <p:nvPicPr>
          <p:cNvPr id="252" name="Google Shape;25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287" y="370268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396" y="4657723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!!titolo">
            <a:extLst>
              <a:ext uri="{FF2B5EF4-FFF2-40B4-BE49-F238E27FC236}">
                <a16:creationId xmlns:a16="http://schemas.microsoft.com/office/drawing/2014/main" id="{2861F8EA-204B-C819-C4B6-AC501F6BAB0A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PROMO &amp; FILOSOFIA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25871AD3-CFA6-F5B3-201C-5CB1CF2170D2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uppo 35">
            <a:extLst>
              <a:ext uri="{FF2B5EF4-FFF2-40B4-BE49-F238E27FC236}">
                <a16:creationId xmlns:a16="http://schemas.microsoft.com/office/drawing/2014/main" id="{E48BD3FC-640F-6C8F-98CC-3EB6C330A5B0}"/>
              </a:ext>
            </a:extLst>
          </p:cNvPr>
          <p:cNvGrpSpPr/>
          <p:nvPr/>
        </p:nvGrpSpPr>
        <p:grpSpPr>
          <a:xfrm>
            <a:off x="-690595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7" name="Connettore 36">
              <a:extLst>
                <a:ext uri="{FF2B5EF4-FFF2-40B4-BE49-F238E27FC236}">
                  <a16:creationId xmlns:a16="http://schemas.microsoft.com/office/drawing/2014/main" id="{DFAB16F4-D1B6-A464-3035-50DD07BAB8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38">
              <a:extLst>
                <a:ext uri="{FF2B5EF4-FFF2-40B4-BE49-F238E27FC236}">
                  <a16:creationId xmlns:a16="http://schemas.microsoft.com/office/drawing/2014/main" id="{59586D6A-4FEE-2AFD-54E5-96B775284406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9" name="Gruppo 35">
            <a:extLst>
              <a:ext uri="{FF2B5EF4-FFF2-40B4-BE49-F238E27FC236}">
                <a16:creationId xmlns:a16="http://schemas.microsoft.com/office/drawing/2014/main" id="{42AC2198-57CB-2B58-BCF3-778EE9664859}"/>
              </a:ext>
            </a:extLst>
          </p:cNvPr>
          <p:cNvGrpSpPr/>
          <p:nvPr/>
        </p:nvGrpSpPr>
        <p:grpSpPr>
          <a:xfrm>
            <a:off x="-688215" y="2934888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10" name="Connettore 36">
              <a:extLst>
                <a:ext uri="{FF2B5EF4-FFF2-40B4-BE49-F238E27FC236}">
                  <a16:creationId xmlns:a16="http://schemas.microsoft.com/office/drawing/2014/main" id="{39DB9BA8-EE4D-8DF0-DDCE-6427780D91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CasellaDiTesto 38">
              <a:extLst>
                <a:ext uri="{FF2B5EF4-FFF2-40B4-BE49-F238E27FC236}">
                  <a16:creationId xmlns:a16="http://schemas.microsoft.com/office/drawing/2014/main" id="{00BEE6C5-3DFC-0239-D249-AF0BED7DDA8E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15" name="Gruppo 35">
            <a:extLst>
              <a:ext uri="{FF2B5EF4-FFF2-40B4-BE49-F238E27FC236}">
                <a16:creationId xmlns:a16="http://schemas.microsoft.com/office/drawing/2014/main" id="{6D8D4185-6EF0-5432-C9E7-7E1DC0DA0E69}"/>
              </a:ext>
            </a:extLst>
          </p:cNvPr>
          <p:cNvGrpSpPr/>
          <p:nvPr/>
        </p:nvGrpSpPr>
        <p:grpSpPr>
          <a:xfrm>
            <a:off x="-704743" y="4156913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6" name="Connettore 36">
              <a:extLst>
                <a:ext uri="{FF2B5EF4-FFF2-40B4-BE49-F238E27FC236}">
                  <a16:creationId xmlns:a16="http://schemas.microsoft.com/office/drawing/2014/main" id="{F99A4D73-93CE-906F-0C6E-9BA215C040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CasellaDiTesto 38">
              <a:extLst>
                <a:ext uri="{FF2B5EF4-FFF2-40B4-BE49-F238E27FC236}">
                  <a16:creationId xmlns:a16="http://schemas.microsoft.com/office/drawing/2014/main" id="{5C7DDD94-60D9-D713-2D20-D30B2B84D9FC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18" name="Gruppo 35">
            <a:extLst>
              <a:ext uri="{FF2B5EF4-FFF2-40B4-BE49-F238E27FC236}">
                <a16:creationId xmlns:a16="http://schemas.microsoft.com/office/drawing/2014/main" id="{6ABB960E-E186-8520-1A69-653E60CD32E3}"/>
              </a:ext>
            </a:extLst>
          </p:cNvPr>
          <p:cNvGrpSpPr/>
          <p:nvPr/>
        </p:nvGrpSpPr>
        <p:grpSpPr>
          <a:xfrm>
            <a:off x="-689671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9" name="Connettore 36">
              <a:extLst>
                <a:ext uri="{FF2B5EF4-FFF2-40B4-BE49-F238E27FC236}">
                  <a16:creationId xmlns:a16="http://schemas.microsoft.com/office/drawing/2014/main" id="{BB9E3211-2DE6-C7E1-BD1F-E7636960DB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38">
              <a:extLst>
                <a:ext uri="{FF2B5EF4-FFF2-40B4-BE49-F238E27FC236}">
                  <a16:creationId xmlns:a16="http://schemas.microsoft.com/office/drawing/2014/main" id="{0D6E58CC-ACE0-739C-C709-424CA67E0F88}"/>
                </a:ext>
              </a:extLst>
            </p:cNvPr>
            <p:cNvSpPr txBox="1"/>
            <p:nvPr/>
          </p:nvSpPr>
          <p:spPr>
            <a:xfrm flipH="1">
              <a:off x="12253787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9C5313-3AB1-27DA-EE90-A504464C0B1C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1" name="Gruppo 35">
            <a:extLst>
              <a:ext uri="{FF2B5EF4-FFF2-40B4-BE49-F238E27FC236}">
                <a16:creationId xmlns:a16="http://schemas.microsoft.com/office/drawing/2014/main" id="{4ACDA4A1-6605-A27B-477A-2E711D06F046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2" name="Connettore 36">
              <a:extLst>
                <a:ext uri="{FF2B5EF4-FFF2-40B4-BE49-F238E27FC236}">
                  <a16:creationId xmlns:a16="http://schemas.microsoft.com/office/drawing/2014/main" id="{0AF5FB58-9C25-B850-CC73-612F0969D7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CasellaDiTesto 38">
              <a:extLst>
                <a:ext uri="{FF2B5EF4-FFF2-40B4-BE49-F238E27FC236}">
                  <a16:creationId xmlns:a16="http://schemas.microsoft.com/office/drawing/2014/main" id="{98E9A461-D831-F535-8780-3C393E516A62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12" name="Gruppo 35">
            <a:extLst>
              <a:ext uri="{FF2B5EF4-FFF2-40B4-BE49-F238E27FC236}">
                <a16:creationId xmlns:a16="http://schemas.microsoft.com/office/drawing/2014/main" id="{1F87E756-E07A-E9E2-C25F-612CFB923FD7}"/>
              </a:ext>
            </a:extLst>
          </p:cNvPr>
          <p:cNvGrpSpPr/>
          <p:nvPr/>
        </p:nvGrpSpPr>
        <p:grpSpPr>
          <a:xfrm>
            <a:off x="130090" y="3533423"/>
            <a:ext cx="476139" cy="461665"/>
            <a:chOff x="12129943" y="361097"/>
            <a:chExt cx="808113" cy="783547"/>
          </a:xfrm>
          <a:solidFill>
            <a:schemeClr val="bg1"/>
          </a:solidFill>
        </p:grpSpPr>
        <p:sp>
          <p:nvSpPr>
            <p:cNvPr id="13" name="Connettore 36">
              <a:extLst>
                <a:ext uri="{FF2B5EF4-FFF2-40B4-BE49-F238E27FC236}">
                  <a16:creationId xmlns:a16="http://schemas.microsoft.com/office/drawing/2014/main" id="{DCAF8F37-55A2-1DEC-BE98-F212D33F8C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CasellaDiTesto 38">
              <a:extLst>
                <a:ext uri="{FF2B5EF4-FFF2-40B4-BE49-F238E27FC236}">
                  <a16:creationId xmlns:a16="http://schemas.microsoft.com/office/drawing/2014/main" id="{3F2EBCA4-0FE9-F476-9BA9-7066E036AA6A}"/>
                </a:ext>
              </a:extLst>
            </p:cNvPr>
            <p:cNvSpPr txBox="1"/>
            <p:nvPr/>
          </p:nvSpPr>
          <p:spPr>
            <a:xfrm flipH="1">
              <a:off x="12129943" y="361097"/>
              <a:ext cx="808113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70369DF-42C9-A546-9865-A46B1F0C4186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37E808B-F89C-BC64-E13F-96662959F67D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171E6D2-10D2-E29F-1C5D-3F9D586C0412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8B44BBE-86DF-995B-B921-D1894C3FE449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680CA73-2E80-57F6-6A3A-1AC6E18AAE7D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DBE1D4C-61E8-41F2-07D0-0653678E6B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15" r="6407"/>
          <a:stretch>
            <a:fillRect/>
          </a:stretch>
        </p:blipFill>
        <p:spPr>
          <a:xfrm>
            <a:off x="6041828" y="-1"/>
            <a:ext cx="615017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93;p14" descr="image.png">
            <a:extLst>
              <a:ext uri="{FF2B5EF4-FFF2-40B4-BE49-F238E27FC236}">
                <a16:creationId xmlns:a16="http://schemas.microsoft.com/office/drawing/2014/main" id="{607B1F0F-E977-2CE4-3A7B-46FF921A3E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83C16BA5-88EB-9BE5-B4A8-EB21367C539A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0969894-8F44-04F2-2EBD-33DDA38EC98C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40B6EBA-7438-D94E-8350-8F0AAB380C2A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59" name="!!11a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62436"/>
            <a:ext cx="5191125" cy="170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!!11b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3062436"/>
            <a:ext cx="5191125" cy="1700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261ABED-5FEE-93B6-F210-EA2F5AFB4C3A}"/>
              </a:ext>
            </a:extLst>
          </p:cNvPr>
          <p:cNvGrpSpPr/>
          <p:nvPr/>
        </p:nvGrpSpPr>
        <p:grpSpPr>
          <a:xfrm>
            <a:off x="992267" y="3459628"/>
            <a:ext cx="4730591" cy="906423"/>
            <a:chOff x="1104900" y="3405336"/>
            <a:chExt cx="4730591" cy="906423"/>
          </a:xfrm>
        </p:grpSpPr>
        <p:sp>
          <p:nvSpPr>
            <p:cNvPr id="264" name="Google Shape;264;p22"/>
            <p:cNvSpPr txBox="1"/>
            <p:nvPr/>
          </p:nvSpPr>
          <p:spPr>
            <a:xfrm>
              <a:off x="1104900" y="3405336"/>
              <a:ext cx="47305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7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F95707"/>
                  </a:solidFill>
                  <a:latin typeface="Comfortaa" pitchFamily="2" charset="0"/>
                  <a:sym typeface="Outfit ExtraBold"/>
                </a:rPr>
                <a:t>DIFFERENZIAZIONE COMPETITIVA</a:t>
              </a:r>
              <a:endParaRPr sz="1800" b="1" dirty="0">
                <a:latin typeface="Comfortaa" pitchFamily="2" charset="0"/>
              </a:endParaRPr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1104900" y="3757761"/>
              <a:ext cx="4505325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noProof="0" dirty="0">
                  <a:solidFill>
                    <a:srgbClr val="A3A3A3"/>
                  </a:solidFill>
                  <a:latin typeface="Montserrat" pitchFamily="2" charset="0"/>
                  <a:ea typeface="Inter"/>
                  <a:sym typeface="Inter"/>
                </a:rPr>
                <a:t>Trasformiamo ogni punto vendita in un’esperienza a sè, grazie a un’offerta che integra le eccellenze locali mantenendo un’identità di brand unica nel suo genere.</a:t>
              </a:r>
              <a:endParaRPr lang="it-IT" sz="1800" noProof="0" dirty="0">
                <a:latin typeface="Montserrat" pitchFamily="2" charset="0"/>
              </a:endParaRPr>
            </a:p>
          </p:txBody>
        </p:sp>
        <p:pic>
          <p:nvPicPr>
            <p:cNvPr id="268" name="Google Shape;268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04900" y="3434298"/>
              <a:ext cx="171450" cy="19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2AE710-2A79-5804-B3B1-4A2A3A6C3637}"/>
              </a:ext>
            </a:extLst>
          </p:cNvPr>
          <p:cNvGrpSpPr/>
          <p:nvPr/>
        </p:nvGrpSpPr>
        <p:grpSpPr>
          <a:xfrm>
            <a:off x="6469142" y="3447731"/>
            <a:ext cx="4730591" cy="1083865"/>
            <a:chOff x="6581774" y="3447731"/>
            <a:chExt cx="4730591" cy="1083865"/>
          </a:xfrm>
        </p:grpSpPr>
        <p:sp>
          <p:nvSpPr>
            <p:cNvPr id="266" name="Google Shape;266;p22"/>
            <p:cNvSpPr txBox="1"/>
            <p:nvPr/>
          </p:nvSpPr>
          <p:spPr>
            <a:xfrm>
              <a:off x="6581774" y="3447731"/>
              <a:ext cx="47305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F95707"/>
                  </a:solidFill>
                  <a:latin typeface="Comfortaa" pitchFamily="2" charset="0"/>
                  <a:ea typeface="Outfit ExtraBold"/>
                  <a:cs typeface="Outfit ExtraBold"/>
                  <a:sym typeface="Outfit ExtraBold"/>
                </a:rPr>
                <a:t>FIDELIZZAZIONE DEL CLIENTE</a:t>
              </a:r>
              <a:endParaRPr sz="1800" b="1" dirty="0">
                <a:latin typeface="Comfortaa" pitchFamily="2" charset="0"/>
              </a:endParaRPr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6581774" y="3792932"/>
              <a:ext cx="4505325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b="0" i="0" u="none" strike="noStrike" cap="none" noProof="0" dirty="0">
                  <a:solidFill>
                    <a:srgbClr val="A3A3A3"/>
                  </a:solidFill>
                  <a:latin typeface="Montserrat" pitchFamily="2" charset="0"/>
                  <a:ea typeface="Inter"/>
                  <a:cs typeface="Inter"/>
                  <a:sym typeface="Inter"/>
                </a:rPr>
                <a:t>L’utilizzo di prodotti del territorio genera autenticità</a:t>
              </a:r>
              <a:r>
                <a:rPr lang="it-IT" sz="1200" noProof="0" dirty="0">
                  <a:solidFill>
                    <a:srgbClr val="A3A3A3"/>
                  </a:solidFill>
                  <a:latin typeface="Montserrat" pitchFamily="2" charset="0"/>
                  <a:ea typeface="Inter"/>
                  <a:cs typeface="Inter"/>
                  <a:sym typeface="Inter"/>
                </a:rPr>
                <a:t>, aumenta il valore percepito e crea un legame emotive con la comunità locale, favorendo la fidelizzazione e il passaparola.</a:t>
              </a:r>
              <a:endParaRPr lang="it-IT" sz="1800" noProof="0" dirty="0">
                <a:latin typeface="Montserrat" pitchFamily="2" charset="0"/>
              </a:endParaRPr>
            </a:p>
          </p:txBody>
        </p:sp>
        <p:pic>
          <p:nvPicPr>
            <p:cNvPr id="269" name="Google Shape;269;p22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81774" y="3473489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!!titolo">
            <a:extLst>
              <a:ext uri="{FF2B5EF4-FFF2-40B4-BE49-F238E27FC236}">
                <a16:creationId xmlns:a16="http://schemas.microsoft.com/office/drawing/2014/main" id="{924F2722-7A6D-CA40-8A25-430C3301A41A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VANTAGGI COMPETITIVI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F72B7994-F900-6533-67BA-186523FD8B6A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1EA81923-0076-8C2D-893E-8EE4A6CC3575}"/>
              </a:ext>
            </a:extLst>
          </p:cNvPr>
          <p:cNvGrpSpPr/>
          <p:nvPr/>
        </p:nvGrpSpPr>
        <p:grpSpPr>
          <a:xfrm>
            <a:off x="-690595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EB3B8E83-350A-7679-7B18-AF8FE7FAF1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5FBD6CCF-57C2-40E0-CE0D-1B0196D6296F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8BB9D187-044B-3B15-F025-13F734303F7B}"/>
              </a:ext>
            </a:extLst>
          </p:cNvPr>
          <p:cNvGrpSpPr/>
          <p:nvPr/>
        </p:nvGrpSpPr>
        <p:grpSpPr>
          <a:xfrm>
            <a:off x="-688215" y="2934888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BF2FB7D2-55F4-B97A-B2AD-476E8EBD27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FF24274E-65AD-5A7B-5547-08133CF66A61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63FB2F-0B4A-B8F7-C254-342B94FFBD4E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D2072F24-4633-15DD-4ED7-B9CB1C82830F}"/>
              </a:ext>
            </a:extLst>
          </p:cNvPr>
          <p:cNvGrpSpPr/>
          <p:nvPr/>
        </p:nvGrpSpPr>
        <p:grpSpPr>
          <a:xfrm>
            <a:off x="-689671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3EDAD2C3-76FA-B173-AB76-167853CB77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41163DEF-9F5B-3267-9065-54179E483C97}"/>
                </a:ext>
              </a:extLst>
            </p:cNvPr>
            <p:cNvSpPr txBox="1"/>
            <p:nvPr/>
          </p:nvSpPr>
          <p:spPr>
            <a:xfrm flipH="1">
              <a:off x="12253787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1B1D9661-14AF-E45A-76B5-6BEA5B9CCC88}"/>
              </a:ext>
            </a:extLst>
          </p:cNvPr>
          <p:cNvGrpSpPr/>
          <p:nvPr/>
        </p:nvGrpSpPr>
        <p:grpSpPr>
          <a:xfrm>
            <a:off x="-728421" y="4757642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2B15756D-DFB7-FBEC-1236-23CC688D2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03852518-854F-6AA6-FC20-22F57D3A1ECD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EA01145D-6CFB-53B4-7679-CE117D18F193}"/>
              </a:ext>
            </a:extLst>
          </p:cNvPr>
          <p:cNvGrpSpPr/>
          <p:nvPr/>
        </p:nvGrpSpPr>
        <p:grpSpPr>
          <a:xfrm>
            <a:off x="159532" y="4159217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7287B22A-C5C5-A721-714A-D8C99BC525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E0FF44C0-8CD6-C6B2-9495-D039082ABCF4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4" name="Gruppo 35">
            <a:extLst>
              <a:ext uri="{FF2B5EF4-FFF2-40B4-BE49-F238E27FC236}">
                <a16:creationId xmlns:a16="http://schemas.microsoft.com/office/drawing/2014/main" id="{4EC0B027-EDFF-F4FB-55D6-E2F00716F11D}"/>
              </a:ext>
            </a:extLst>
          </p:cNvPr>
          <p:cNvGrpSpPr/>
          <p:nvPr/>
        </p:nvGrpSpPr>
        <p:grpSpPr>
          <a:xfrm>
            <a:off x="-698585" y="3533423"/>
            <a:ext cx="476139" cy="461665"/>
            <a:chOff x="12129943" y="361097"/>
            <a:chExt cx="808113" cy="783547"/>
          </a:xfrm>
          <a:solidFill>
            <a:schemeClr val="bg1"/>
          </a:solidFill>
        </p:grpSpPr>
        <p:sp>
          <p:nvSpPr>
            <p:cNvPr id="25" name="Connettore 36">
              <a:extLst>
                <a:ext uri="{FF2B5EF4-FFF2-40B4-BE49-F238E27FC236}">
                  <a16:creationId xmlns:a16="http://schemas.microsoft.com/office/drawing/2014/main" id="{B3208E4D-A3CD-5A4C-34D6-B415025B48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6" name="CasellaDiTesto 38">
              <a:extLst>
                <a:ext uri="{FF2B5EF4-FFF2-40B4-BE49-F238E27FC236}">
                  <a16:creationId xmlns:a16="http://schemas.microsoft.com/office/drawing/2014/main" id="{998F111B-735D-271D-DDF5-47EAAEBED1D7}"/>
                </a:ext>
              </a:extLst>
            </p:cNvPr>
            <p:cNvSpPr txBox="1"/>
            <p:nvPr/>
          </p:nvSpPr>
          <p:spPr>
            <a:xfrm flipH="1">
              <a:off x="12129943" y="361097"/>
              <a:ext cx="808113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62CA4C-A917-60B5-14F8-E0A9450752F2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A4FEB38-E9C4-F484-C340-F1621A24C7CE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BD57661-E7B8-5FB3-D453-1663951C33D6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8E66AB-EBA0-30CE-2B10-4467421DA774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044EF89-D81B-E768-BC41-9502089408D3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Google Shape;136;p15">
            <a:extLst>
              <a:ext uri="{FF2B5EF4-FFF2-40B4-BE49-F238E27FC236}">
                <a16:creationId xmlns:a16="http://schemas.microsoft.com/office/drawing/2014/main" id="{5F6A4BBD-94A2-F181-C83F-DBBD74EF843B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Perché la nostra offerta integrata si distingue nettamente dai concorrenti tradizionali.</a:t>
            </a:r>
            <a:endParaRPr lang="it-IT" sz="120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3;p14" descr="image.png">
            <a:extLst>
              <a:ext uri="{FF2B5EF4-FFF2-40B4-BE49-F238E27FC236}">
                <a16:creationId xmlns:a16="http://schemas.microsoft.com/office/drawing/2014/main" id="{4B31AA51-C259-06D2-4308-85AF805CA9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BD35397E-F057-2E38-0324-67C145E872E4}"/>
              </a:ext>
            </a:extLst>
          </p:cNvPr>
          <p:cNvSpPr/>
          <p:nvPr/>
        </p:nvSpPr>
        <p:spPr>
          <a:xfrm>
            <a:off x="326150" y="492188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BEDA4F4-9DDC-04CB-0B3B-00A09A36F1F7}"/>
              </a:ext>
            </a:extLst>
          </p:cNvPr>
          <p:cNvSpPr/>
          <p:nvPr/>
        </p:nvSpPr>
        <p:spPr>
          <a:xfrm>
            <a:off x="326150" y="4322310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0985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6175" y="260985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0809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175" y="4008090"/>
            <a:ext cx="2733675" cy="120774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6800850" y="2940694"/>
            <a:ext cx="48606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CRESCITA OPERATIVA SOSTENIBILE</a:t>
            </a:r>
            <a:endParaRPr sz="1800" b="1" dirty="0">
              <a:latin typeface="Comfortaa" pitchFamily="2" charset="0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6800850" y="3274069"/>
            <a:ext cx="46291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La disintermediazione dalle grandi piattaforme di terze parti (come Just Eat o Deliveroo) ci permetterà di recuperare importanti punti di marginalità sul delivery.</a:t>
            </a:r>
            <a:endParaRPr lang="it-IT" sz="1800" noProof="0" dirty="0">
              <a:latin typeface="Montserrat" pitchFamily="2" charset="0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6800850" y="4079527"/>
            <a:ext cx="46291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Il focus sulla community locale e sulle dinamiche interattive dei social incrementerà la frequenza media d'acquisto, gettando le basi per un brand scalabile e di proprietà.</a:t>
            </a:r>
            <a:endParaRPr lang="it-IT" sz="1800" noProof="0" dirty="0">
              <a:latin typeface="Montserrat" pitchFamily="2" charset="0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1000125" y="2847975"/>
            <a:ext cx="225742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5707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+45%</a:t>
            </a:r>
            <a:endParaRPr dirty="0">
              <a:latin typeface="Montserrat" pitchFamily="2" charset="0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1000125" y="3398490"/>
            <a:ext cx="22574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omfortaa" pitchFamily="2" charset="0"/>
                <a:ea typeface="Inter"/>
                <a:cs typeface="Inter"/>
                <a:sym typeface="Inter"/>
              </a:rPr>
              <a:t>ORDINI DIRETTI</a:t>
            </a:r>
            <a:endParaRPr sz="1600" b="1" dirty="0">
              <a:latin typeface="Comfortaa" pitchFamily="2" charset="0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3924300" y="2847975"/>
            <a:ext cx="225742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5707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+30%</a:t>
            </a:r>
            <a:endParaRPr dirty="0">
              <a:latin typeface="Montserrat" pitchFamily="2" charset="0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3924300" y="3398490"/>
            <a:ext cx="22574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omfortaa" pitchFamily="2" charset="0"/>
                <a:ea typeface="Inter"/>
                <a:cs typeface="Inter"/>
                <a:sym typeface="Inter"/>
              </a:rPr>
              <a:t>FIDELIZZAZIONE</a:t>
            </a:r>
            <a:endParaRPr sz="1600" b="1" dirty="0">
              <a:latin typeface="Comfortaa" pitchFamily="2" charset="0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1000125" y="4246215"/>
            <a:ext cx="225742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5707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+15k</a:t>
            </a:r>
            <a:endParaRPr dirty="0">
              <a:latin typeface="Montserrat" pitchFamily="2" charset="0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1000125" y="4796730"/>
            <a:ext cx="22574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omfortaa" pitchFamily="2" charset="0"/>
                <a:ea typeface="Inter"/>
                <a:cs typeface="Inter"/>
                <a:sym typeface="Inter"/>
              </a:rPr>
              <a:t>DOWNLOAD APP</a:t>
            </a:r>
            <a:endParaRPr sz="1600" b="1" dirty="0">
              <a:latin typeface="Comfortaa" pitchFamily="2" charset="0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3924300" y="4246215"/>
            <a:ext cx="225742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95707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-20%</a:t>
            </a:r>
            <a:endParaRPr dirty="0">
              <a:latin typeface="Montserrat" pitchFamily="2" charset="0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3924300" y="4796730"/>
            <a:ext cx="22574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omfortaa" pitchFamily="2" charset="0"/>
                <a:ea typeface="Inter"/>
                <a:cs typeface="Inter"/>
                <a:sym typeface="Inter"/>
              </a:rPr>
              <a:t>COSTI LOGISTICI</a:t>
            </a:r>
            <a:endParaRPr sz="1600" b="1" dirty="0">
              <a:latin typeface="Comfortaa" pitchFamily="2" charset="0"/>
            </a:endParaRPr>
          </a:p>
        </p:txBody>
      </p:sp>
      <p:sp>
        <p:nvSpPr>
          <p:cNvPr id="2" name="!!titolo">
            <a:extLst>
              <a:ext uri="{FF2B5EF4-FFF2-40B4-BE49-F238E27FC236}">
                <a16:creationId xmlns:a16="http://schemas.microsoft.com/office/drawing/2014/main" id="{BAF285A7-AFCC-36D9-6790-9C18CB5A35E3}"/>
              </a:ext>
            </a:extLst>
          </p:cNvPr>
          <p:cNvSpPr txBox="1"/>
          <p:nvPr/>
        </p:nvSpPr>
        <p:spPr>
          <a:xfrm>
            <a:off x="848766" y="568884"/>
            <a:ext cx="78418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rgbClr val="FFFFFF"/>
                </a:solidFill>
                <a:latin typeface="Comfortaa" pitchFamily="2" charset="0"/>
                <a:ea typeface="Outfit Black"/>
                <a:cs typeface="Outfit Black"/>
                <a:sym typeface="Outfit Black"/>
              </a:rPr>
              <a:t>RISULTATI ATTESI</a:t>
            </a:r>
            <a:endParaRPr lang="en-US" sz="3200" b="1" dirty="0">
              <a:latin typeface="Montserrat" pitchFamily="2" charset="0"/>
            </a:endParaRPr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9A9B083B-306B-3433-BF8D-87155F6DFEF2}"/>
              </a:ext>
            </a:extLst>
          </p:cNvPr>
          <p:cNvSpPr/>
          <p:nvPr/>
        </p:nvSpPr>
        <p:spPr>
          <a:xfrm>
            <a:off x="613022" y="591268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po 35">
            <a:extLst>
              <a:ext uri="{FF2B5EF4-FFF2-40B4-BE49-F238E27FC236}">
                <a16:creationId xmlns:a16="http://schemas.microsoft.com/office/drawing/2014/main" id="{8CD092F2-C7C9-22D1-0BE3-72AC0DA34C3D}"/>
              </a:ext>
            </a:extLst>
          </p:cNvPr>
          <p:cNvGrpSpPr/>
          <p:nvPr/>
        </p:nvGrpSpPr>
        <p:grpSpPr>
          <a:xfrm>
            <a:off x="-690595" y="2320559"/>
            <a:ext cx="403012" cy="461666"/>
            <a:chOff x="12192000" y="359165"/>
            <a:chExt cx="684000" cy="783549"/>
          </a:xfrm>
          <a:solidFill>
            <a:schemeClr val="bg1"/>
          </a:solidFill>
        </p:grpSpPr>
        <p:sp>
          <p:nvSpPr>
            <p:cNvPr id="6" name="Connettore 36">
              <a:extLst>
                <a:ext uri="{FF2B5EF4-FFF2-40B4-BE49-F238E27FC236}">
                  <a16:creationId xmlns:a16="http://schemas.microsoft.com/office/drawing/2014/main" id="{4A4F20A8-B3F2-BC97-6621-1B1AC2DFD3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38">
              <a:extLst>
                <a:ext uri="{FF2B5EF4-FFF2-40B4-BE49-F238E27FC236}">
                  <a16:creationId xmlns:a16="http://schemas.microsoft.com/office/drawing/2014/main" id="{8C861F55-46BD-9234-CBAD-6DC48B6C9648}"/>
                </a:ext>
              </a:extLst>
            </p:cNvPr>
            <p:cNvSpPr txBox="1"/>
            <p:nvPr/>
          </p:nvSpPr>
          <p:spPr>
            <a:xfrm flipH="1">
              <a:off x="12224829" y="359165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8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uppo 35">
            <a:extLst>
              <a:ext uri="{FF2B5EF4-FFF2-40B4-BE49-F238E27FC236}">
                <a16:creationId xmlns:a16="http://schemas.microsoft.com/office/drawing/2014/main" id="{4F904B8E-4886-7F19-0AED-6C22FBC1F096}"/>
              </a:ext>
            </a:extLst>
          </p:cNvPr>
          <p:cNvGrpSpPr/>
          <p:nvPr/>
        </p:nvGrpSpPr>
        <p:grpSpPr>
          <a:xfrm>
            <a:off x="-688215" y="2934888"/>
            <a:ext cx="403012" cy="461666"/>
            <a:chOff x="12192000" y="369942"/>
            <a:chExt cx="684000" cy="783549"/>
          </a:xfrm>
          <a:solidFill>
            <a:schemeClr val="bg1"/>
          </a:solidFill>
        </p:grpSpPr>
        <p:sp>
          <p:nvSpPr>
            <p:cNvPr id="9" name="Connettore 36">
              <a:extLst>
                <a:ext uri="{FF2B5EF4-FFF2-40B4-BE49-F238E27FC236}">
                  <a16:creationId xmlns:a16="http://schemas.microsoft.com/office/drawing/2014/main" id="{3050D347-2F93-023B-0DF4-2EE586F433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38">
              <a:extLst>
                <a:ext uri="{FF2B5EF4-FFF2-40B4-BE49-F238E27FC236}">
                  <a16:creationId xmlns:a16="http://schemas.microsoft.com/office/drawing/2014/main" id="{4B012C68-B115-691F-5607-CB872C0C84F1}"/>
                </a:ext>
              </a:extLst>
            </p:cNvPr>
            <p:cNvSpPr txBox="1"/>
            <p:nvPr/>
          </p:nvSpPr>
          <p:spPr>
            <a:xfrm flipH="1">
              <a:off x="12240746" y="369942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9</a:t>
              </a:r>
            </a:p>
          </p:txBody>
        </p:sp>
      </p:grpSp>
      <p:grpSp>
        <p:nvGrpSpPr>
          <p:cNvPr id="11" name="Gruppo 35">
            <a:extLst>
              <a:ext uri="{FF2B5EF4-FFF2-40B4-BE49-F238E27FC236}">
                <a16:creationId xmlns:a16="http://schemas.microsoft.com/office/drawing/2014/main" id="{E30B2026-C979-2486-2BF8-140D14C0C8BD}"/>
              </a:ext>
            </a:extLst>
          </p:cNvPr>
          <p:cNvGrpSpPr/>
          <p:nvPr/>
        </p:nvGrpSpPr>
        <p:grpSpPr>
          <a:xfrm>
            <a:off x="-702501" y="3544985"/>
            <a:ext cx="476139" cy="461665"/>
            <a:chOff x="12151576" y="380719"/>
            <a:chExt cx="808113" cy="783547"/>
          </a:xfrm>
          <a:solidFill>
            <a:schemeClr val="bg1"/>
          </a:solidFill>
        </p:grpSpPr>
        <p:sp>
          <p:nvSpPr>
            <p:cNvPr id="12" name="Connettore 36">
              <a:extLst>
                <a:ext uri="{FF2B5EF4-FFF2-40B4-BE49-F238E27FC236}">
                  <a16:creationId xmlns:a16="http://schemas.microsoft.com/office/drawing/2014/main" id="{7AC19956-AF9D-C600-AE86-C83B78381A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38">
              <a:extLst>
                <a:ext uri="{FF2B5EF4-FFF2-40B4-BE49-F238E27FC236}">
                  <a16:creationId xmlns:a16="http://schemas.microsoft.com/office/drawing/2014/main" id="{5C1405BC-9AB1-94DC-5A6F-9F66582514AE}"/>
                </a:ext>
              </a:extLst>
            </p:cNvPr>
            <p:cNvSpPr txBox="1"/>
            <p:nvPr/>
          </p:nvSpPr>
          <p:spPr>
            <a:xfrm flipH="1">
              <a:off x="12151576" y="380719"/>
              <a:ext cx="808113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10</a:t>
              </a:r>
            </a:p>
          </p:txBody>
        </p:sp>
      </p:grpSp>
      <p:grpSp>
        <p:nvGrpSpPr>
          <p:cNvPr id="14" name="Gruppo 35">
            <a:extLst>
              <a:ext uri="{FF2B5EF4-FFF2-40B4-BE49-F238E27FC236}">
                <a16:creationId xmlns:a16="http://schemas.microsoft.com/office/drawing/2014/main" id="{6CE555E3-DE57-60CD-9F09-9EDBDEA9491C}"/>
              </a:ext>
            </a:extLst>
          </p:cNvPr>
          <p:cNvGrpSpPr/>
          <p:nvPr/>
        </p:nvGrpSpPr>
        <p:grpSpPr>
          <a:xfrm>
            <a:off x="-685122" y="4159217"/>
            <a:ext cx="459593" cy="461665"/>
            <a:chOff x="12183914" y="391497"/>
            <a:chExt cx="780030" cy="783547"/>
          </a:xfrm>
          <a:solidFill>
            <a:schemeClr val="bg1"/>
          </a:solidFill>
        </p:grpSpPr>
        <p:sp>
          <p:nvSpPr>
            <p:cNvPr id="15" name="Connettore 36">
              <a:extLst>
                <a:ext uri="{FF2B5EF4-FFF2-40B4-BE49-F238E27FC236}">
                  <a16:creationId xmlns:a16="http://schemas.microsoft.com/office/drawing/2014/main" id="{AA42FD24-5F2C-0768-CE92-EFB7886F1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38">
              <a:extLst>
                <a:ext uri="{FF2B5EF4-FFF2-40B4-BE49-F238E27FC236}">
                  <a16:creationId xmlns:a16="http://schemas.microsoft.com/office/drawing/2014/main" id="{2D6AA0C5-6D9B-12CD-0F90-C87E51FF9F67}"/>
                </a:ext>
              </a:extLst>
            </p:cNvPr>
            <p:cNvSpPr txBox="1"/>
            <p:nvPr/>
          </p:nvSpPr>
          <p:spPr>
            <a:xfrm flipH="1">
              <a:off x="12183914" y="391497"/>
              <a:ext cx="780030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11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5C1470A-7F94-8E4F-DAD9-EDFDD1D4530A}"/>
              </a:ext>
            </a:extLst>
          </p:cNvPr>
          <p:cNvCxnSpPr>
            <a:cxnSpLocks/>
          </p:cNvCxnSpPr>
          <p:nvPr/>
        </p:nvCxnSpPr>
        <p:spPr>
          <a:xfrm>
            <a:off x="368174" y="1728629"/>
            <a:ext cx="0" cy="3438204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" name="Gruppo 35">
            <a:extLst>
              <a:ext uri="{FF2B5EF4-FFF2-40B4-BE49-F238E27FC236}">
                <a16:creationId xmlns:a16="http://schemas.microsoft.com/office/drawing/2014/main" id="{C94E2764-559E-C102-86DF-0EA97EE15EC3}"/>
              </a:ext>
            </a:extLst>
          </p:cNvPr>
          <p:cNvGrpSpPr/>
          <p:nvPr/>
        </p:nvGrpSpPr>
        <p:grpSpPr>
          <a:xfrm>
            <a:off x="-689671" y="1728629"/>
            <a:ext cx="403012" cy="461666"/>
            <a:chOff x="12192000" y="382650"/>
            <a:chExt cx="684000" cy="783549"/>
          </a:xfrm>
          <a:solidFill>
            <a:schemeClr val="bg1"/>
          </a:solidFill>
        </p:grpSpPr>
        <p:sp>
          <p:nvSpPr>
            <p:cNvPr id="18" name="Connettore 36">
              <a:extLst>
                <a:ext uri="{FF2B5EF4-FFF2-40B4-BE49-F238E27FC236}">
                  <a16:creationId xmlns:a16="http://schemas.microsoft.com/office/drawing/2014/main" id="{AB79F7FF-7EE2-549B-47E5-4792EA2E5F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38">
              <a:extLst>
                <a:ext uri="{FF2B5EF4-FFF2-40B4-BE49-F238E27FC236}">
                  <a16:creationId xmlns:a16="http://schemas.microsoft.com/office/drawing/2014/main" id="{BB793ED2-9413-A9A5-B32E-0CB77743A419}"/>
                </a:ext>
              </a:extLst>
            </p:cNvPr>
            <p:cNvSpPr txBox="1"/>
            <p:nvPr/>
          </p:nvSpPr>
          <p:spPr>
            <a:xfrm flipH="1">
              <a:off x="12253787" y="382650"/>
              <a:ext cx="549219" cy="78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7</a:t>
              </a:r>
              <a:endParaRPr lang="it-IT" sz="2400" dirty="0">
                <a:solidFill>
                  <a:schemeClr val="tx1"/>
                </a:solidFill>
                <a:latin typeface="Comfortaa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20" name="Gruppo 35">
            <a:extLst>
              <a:ext uri="{FF2B5EF4-FFF2-40B4-BE49-F238E27FC236}">
                <a16:creationId xmlns:a16="http://schemas.microsoft.com/office/drawing/2014/main" id="{AEEF2804-9916-3B7F-A551-94F202174D8B}"/>
              </a:ext>
            </a:extLst>
          </p:cNvPr>
          <p:cNvGrpSpPr/>
          <p:nvPr/>
        </p:nvGrpSpPr>
        <p:grpSpPr>
          <a:xfrm>
            <a:off x="129974" y="4754165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21" name="Connettore 36">
              <a:extLst>
                <a:ext uri="{FF2B5EF4-FFF2-40B4-BE49-F238E27FC236}">
                  <a16:creationId xmlns:a16="http://schemas.microsoft.com/office/drawing/2014/main" id="{14E868E5-E524-5D32-0ACC-885B365359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38">
              <a:extLst>
                <a:ext uri="{FF2B5EF4-FFF2-40B4-BE49-F238E27FC236}">
                  <a16:creationId xmlns:a16="http://schemas.microsoft.com/office/drawing/2014/main" id="{3AD6F1FB-E30D-F6D8-C36B-47E94EDF1B84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40C4340-E94A-AE84-1028-B7AAE9371574}"/>
              </a:ext>
            </a:extLst>
          </p:cNvPr>
          <p:cNvCxnSpPr>
            <a:cxnSpLocks/>
          </p:cNvCxnSpPr>
          <p:nvPr/>
        </p:nvCxnSpPr>
        <p:spPr>
          <a:xfrm flipV="1">
            <a:off x="374368" y="5195408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37A656-4E6F-C2D3-F9EF-8D75D33E46D3}"/>
              </a:ext>
            </a:extLst>
          </p:cNvPr>
          <p:cNvCxnSpPr>
            <a:cxnSpLocks/>
          </p:cNvCxnSpPr>
          <p:nvPr/>
        </p:nvCxnSpPr>
        <p:spPr>
          <a:xfrm flipV="1">
            <a:off x="368159" y="-428625"/>
            <a:ext cx="0" cy="2090579"/>
          </a:xfrm>
          <a:prstGeom prst="line">
            <a:avLst/>
          </a:prstGeom>
          <a:ln w="19050" cap="flat" cmpd="sng" algn="ctr">
            <a:solidFill>
              <a:srgbClr val="298D68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69298FB-92ED-6BAD-62D9-95F766807840}"/>
              </a:ext>
            </a:extLst>
          </p:cNvPr>
          <p:cNvSpPr/>
          <p:nvPr/>
        </p:nvSpPr>
        <p:spPr>
          <a:xfrm>
            <a:off x="327084" y="1894476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3A5747-CBFC-E798-CFA0-7A349D677438}"/>
              </a:ext>
            </a:extLst>
          </p:cNvPr>
          <p:cNvSpPr/>
          <p:nvPr/>
        </p:nvSpPr>
        <p:spPr>
          <a:xfrm>
            <a:off x="327825" y="2519967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93ED13-B8DD-D053-A45B-F081A8615264}"/>
              </a:ext>
            </a:extLst>
          </p:cNvPr>
          <p:cNvSpPr/>
          <p:nvPr/>
        </p:nvSpPr>
        <p:spPr>
          <a:xfrm>
            <a:off x="327084" y="3103449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F08D167-3CBB-68F0-9041-7457CA13E921}"/>
              </a:ext>
            </a:extLst>
          </p:cNvPr>
          <p:cNvSpPr/>
          <p:nvPr/>
        </p:nvSpPr>
        <p:spPr>
          <a:xfrm>
            <a:off x="327084" y="3708914"/>
            <a:ext cx="84018" cy="84018"/>
          </a:xfrm>
          <a:prstGeom prst="ellipse">
            <a:avLst/>
          </a:prstGeom>
          <a:solidFill>
            <a:srgbClr val="298D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Google Shape;136;p15">
            <a:extLst>
              <a:ext uri="{FF2B5EF4-FFF2-40B4-BE49-F238E27FC236}">
                <a16:creationId xmlns:a16="http://schemas.microsoft.com/office/drawing/2014/main" id="{EFC7F4E2-ACB5-7D6D-4AF6-4F0DE8DE941B}"/>
              </a:ext>
            </a:extLst>
          </p:cNvPr>
          <p:cNvSpPr txBox="1"/>
          <p:nvPr/>
        </p:nvSpPr>
        <p:spPr>
          <a:xfrm>
            <a:off x="847530" y="1061327"/>
            <a:ext cx="10668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it-IT" sz="120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Le proiezioni di crescita stimate entro i primi 12 mesi dal lancio della nuova piattaforma.</a:t>
            </a:r>
            <a:endParaRPr lang="it-IT" sz="1200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F1951D00-0158-3FFE-D802-A2C933C49E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04" t="2155" b="215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2895486" y="2426619"/>
            <a:ext cx="6400876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FFFFF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IL FUTURO È </a:t>
            </a:r>
            <a:r>
              <a:rPr lang="en-US" sz="4050" b="1" i="0" u="none" strike="noStrike" cap="none" dirty="0">
                <a:solidFill>
                  <a:srgbClr val="F95707"/>
                </a:solidFill>
                <a:latin typeface="Comfortaa" pitchFamily="2" charset="0"/>
                <a:ea typeface="Outfit ExtraBold"/>
                <a:cs typeface="Outfit ExtraBold"/>
                <a:sym typeface="Outfit ExtraBold"/>
              </a:rPr>
              <a:t>DIGITALE.</a:t>
            </a:r>
            <a:endParaRPr b="1" dirty="0">
              <a:latin typeface="Comfortaa" pitchFamily="2" charset="0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2285924" y="3216332"/>
            <a:ext cx="7620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Grazie per l'attenzione. Unisciti alla rivoluzione mobile di Just Burgers e scopri come stiamo ridefinendo l'esperienza del fast-food artigianale</a:t>
            </a:r>
            <a:r>
              <a:rPr lang="it-IT" sz="1350" noProof="0" dirty="0">
                <a:solidFill>
                  <a:srgbClr val="A3A3A3"/>
                </a:solidFill>
                <a:latin typeface="Montserrat" pitchFamily="2" charset="0"/>
                <a:ea typeface="Inter"/>
                <a:cs typeface="Inter"/>
                <a:sym typeface="Inter"/>
              </a:rPr>
              <a:t>.</a:t>
            </a:r>
            <a:endParaRPr lang="it-IT" sz="1350" noProof="0" dirty="0">
              <a:latin typeface="Montserrat" pitchFamily="2" charset="0"/>
            </a:endParaRPr>
          </a:p>
        </p:txBody>
      </p:sp>
      <p:grpSp>
        <p:nvGrpSpPr>
          <p:cNvPr id="4" name="Gruppo 35">
            <a:extLst>
              <a:ext uri="{FF2B5EF4-FFF2-40B4-BE49-F238E27FC236}">
                <a16:creationId xmlns:a16="http://schemas.microsoft.com/office/drawing/2014/main" id="{BDFF32AE-DEE0-306E-572C-79D149BE66A1}"/>
              </a:ext>
            </a:extLst>
          </p:cNvPr>
          <p:cNvGrpSpPr/>
          <p:nvPr/>
        </p:nvGrpSpPr>
        <p:grpSpPr>
          <a:xfrm>
            <a:off x="-872162" y="4754165"/>
            <a:ext cx="499832" cy="461665"/>
            <a:chOff x="12127567" y="382941"/>
            <a:chExt cx="848325" cy="783547"/>
          </a:xfrm>
          <a:solidFill>
            <a:schemeClr val="bg1"/>
          </a:solidFill>
        </p:grpSpPr>
        <p:sp>
          <p:nvSpPr>
            <p:cNvPr id="5" name="Connettore 36">
              <a:extLst>
                <a:ext uri="{FF2B5EF4-FFF2-40B4-BE49-F238E27FC236}">
                  <a16:creationId xmlns:a16="http://schemas.microsoft.com/office/drawing/2014/main" id="{4455AE37-2F0E-D6BF-BFC6-8655C71741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92000" y="393428"/>
              <a:ext cx="684000" cy="68400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CasellaDiTesto 38">
              <a:extLst>
                <a:ext uri="{FF2B5EF4-FFF2-40B4-BE49-F238E27FC236}">
                  <a16:creationId xmlns:a16="http://schemas.microsoft.com/office/drawing/2014/main" id="{DDE1169D-F903-EAFC-98A6-254A9BFFE605}"/>
                </a:ext>
              </a:extLst>
            </p:cNvPr>
            <p:cNvSpPr txBox="1"/>
            <p:nvPr/>
          </p:nvSpPr>
          <p:spPr>
            <a:xfrm flipH="1">
              <a:off x="12127567" y="382941"/>
              <a:ext cx="848325" cy="78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tx1"/>
                  </a:solidFill>
                  <a:latin typeface="Comfortaa" pitchFamily="2" charset="0"/>
                  <a:cs typeface="Aharoni" panose="02010803020104030203" pitchFamily="2" charset="-79"/>
                </a:rPr>
                <a:t>12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AE17C6E-E3E0-51C5-0474-856C91503A56}"/>
              </a:ext>
            </a:extLst>
          </p:cNvPr>
          <p:cNvGrpSpPr/>
          <p:nvPr/>
        </p:nvGrpSpPr>
        <p:grpSpPr>
          <a:xfrm>
            <a:off x="4409181" y="3798295"/>
            <a:ext cx="3373486" cy="371475"/>
            <a:chOff x="4409181" y="4436712"/>
            <a:chExt cx="3373486" cy="37147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E6617A6-DF50-AB65-EC44-FC072FB5A9CF}"/>
                </a:ext>
              </a:extLst>
            </p:cNvPr>
            <p:cNvSpPr/>
            <p:nvPr/>
          </p:nvSpPr>
          <p:spPr>
            <a:xfrm>
              <a:off x="4409181" y="4436712"/>
              <a:ext cx="3373486" cy="371475"/>
            </a:xfrm>
            <a:prstGeom prst="roundRect">
              <a:avLst>
                <a:gd name="adj" fmla="val 50000"/>
              </a:avLst>
            </a:prstGeom>
            <a:solidFill>
              <a:srgbClr val="12100F"/>
            </a:solidFill>
            <a:ln w="9525">
              <a:solidFill>
                <a:srgbClr val="5C27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1" name="Google Shape;301;p24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15866" y="4569574"/>
              <a:ext cx="142875" cy="14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Box 7">
              <a:hlinkClick r:id="rId5"/>
              <a:extLst>
                <a:ext uri="{FF2B5EF4-FFF2-40B4-BE49-F238E27FC236}">
                  <a16:creationId xmlns:a16="http://schemas.microsoft.com/office/drawing/2014/main" id="{9A6FCF9C-F695-E04A-0078-985B075D6AC9}"/>
                </a:ext>
              </a:extLst>
            </p:cNvPr>
            <p:cNvSpPr txBox="1"/>
            <p:nvPr/>
          </p:nvSpPr>
          <p:spPr>
            <a:xfrm>
              <a:off x="4778743" y="4499607"/>
              <a:ext cx="29098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Montserrat" pitchFamily="2" charset="0"/>
                </a:rPr>
                <a:t>just-burger-</a:t>
              </a:r>
              <a:r>
                <a:rPr lang="en-US" sz="1100" dirty="0" err="1">
                  <a:solidFill>
                    <a:schemeClr val="bg1"/>
                  </a:solidFill>
                  <a:latin typeface="Montserrat" pitchFamily="2" charset="0"/>
                </a:rPr>
                <a:t>five.vercel.app</a:t>
              </a:r>
              <a:endParaRPr lang="en-US" sz="11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1054</Words>
  <Application>Microsoft Office PowerPoint</Application>
  <PresentationFormat>Widescreen</PresentationFormat>
  <Paragraphs>180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Comfortaa</vt:lpstr>
      <vt:lpstr>Calibri</vt:lpstr>
      <vt:lpstr>Plus Jakarta Sans</vt:lpstr>
      <vt:lpstr>Montserrat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Mattia Rizzi</dc:creator>
  <cp:lastModifiedBy>Alberto Camoirano</cp:lastModifiedBy>
  <cp:revision>26</cp:revision>
  <dcterms:modified xsi:type="dcterms:W3CDTF">2026-07-03T13:11:24Z</dcterms:modified>
</cp:coreProperties>
</file>
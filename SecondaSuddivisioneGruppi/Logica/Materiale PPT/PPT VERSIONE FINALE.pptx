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Black" panose="020B0604020202020204" charset="0"/>
      <p:bold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Outfit" panose="020B0604020202020204" charset="0"/>
      <p:regular r:id="rId27"/>
      <p:bold r:id="rId28"/>
    </p:embeddedFont>
    <p:embeddedFont>
      <p:font typeface="Outfit Black" panose="020B0604020202020204" charset="0"/>
      <p:bold r:id="rId29"/>
    </p:embeddedFont>
    <p:embeddedFont>
      <p:font typeface="Outfit ExtraBold" panose="020B0604020202020204" charset="0"/>
      <p:bold r:id="rId30"/>
    </p:embeddedFont>
    <p:embeddedFont>
      <p:font typeface="Plus Jakarta Sans" panose="020B0604020202020204" charset="0"/>
      <p:regular r:id="rId31"/>
      <p:bold r:id="rId32"/>
      <p:italic r:id="rId33"/>
      <p:boldItalic r:id="rId34"/>
    </p:embeddedFont>
    <p:embeddedFont>
      <p:font typeface="Plus Jakarta Sans SemiBold" panose="020B0604020202020204" charset="0"/>
      <p:regular r:id="rId35"/>
      <p:bold r:id="rId36"/>
      <p:italic r:id="rId37"/>
      <p:boldItalic r:id="rId38"/>
    </p:embeddedFont>
    <p:embeddedFont>
      <p:font typeface="Poppins" panose="00000500000000000000" pitchFamily="2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7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7150" y="1809750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900" y="1333500"/>
            <a:ext cx="4191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76275" y="623334"/>
            <a:ext cx="6400800" cy="224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Inter Black"/>
                <a:ea typeface="Inter Black"/>
                <a:cs typeface="Inter Black"/>
                <a:sym typeface="Inter Black"/>
              </a:rPr>
              <a:t>J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Inter Black"/>
                <a:ea typeface="Inter Black"/>
                <a:cs typeface="Inter Black"/>
                <a:sym typeface="Inter Black"/>
              </a:rPr>
              <a:t>ST</a:t>
            </a:r>
          </a:p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95707"/>
                </a:solidFill>
                <a:latin typeface="Inter Black"/>
                <a:ea typeface="Inter Black"/>
                <a:cs typeface="Inter Black"/>
                <a:sym typeface="Inter Black"/>
              </a:rPr>
              <a:t>JUST </a:t>
            </a:r>
          </a:p>
          <a:p>
            <a:pPr marL="0" marR="0" lvl="0" indent="0" algn="l" rtl="0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95707"/>
                </a:solidFill>
                <a:latin typeface="Inter Black"/>
                <a:ea typeface="Inter Black"/>
                <a:cs typeface="Inter Black"/>
                <a:sym typeface="Inter Black"/>
              </a:rPr>
              <a:t>BURGERS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867025"/>
            <a:ext cx="64008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9570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CAMPAGNA PUBBLICITARIA DIGITALE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181350"/>
            <a:ext cx="6720840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NUOVA ESPERIENZA MOBILE &amp; DELIVERY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37763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Unire un'identità culinaria forte a una tecnologia all'avanguardia per servire al meglio la nostra community, ovunque si trovi.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86850" y="191452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7125" y="32194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46109" y="490537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10675" y="204787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0" y="3352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60409" y="503872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1905000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882229"/>
            <a:ext cx="3397299" cy="383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1882229"/>
            <a:ext cx="3397299" cy="383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1882229"/>
            <a:ext cx="3397299" cy="383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3101429"/>
            <a:ext cx="2806749" cy="108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6800" y="4333875"/>
            <a:ext cx="2806749" cy="108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699" y="3101429"/>
            <a:ext cx="2806749" cy="108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4333875"/>
            <a:ext cx="2806749" cy="108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18599" y="3101429"/>
            <a:ext cx="2806749" cy="108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8599" y="4333875"/>
            <a:ext cx="2806749" cy="1089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62025" y="581025"/>
            <a:ext cx="109813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SFIDE RISCONTRATE &amp; SOLUZIONI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71525" y="581025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66800" y="2768054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Costi di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Consegna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4692699" y="2768054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Frizione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d'acquisto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318599" y="2768054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Fidelizzazione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&amp; Loop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6800" y="2196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295400" y="3244304"/>
            <a:ext cx="25070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8717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PROBLEMA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95400" y="3453854"/>
            <a:ext cx="23876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piattaforme terze erodono i margini fino al 30% per transazione e limitano il controllo sulla qualità.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295400" y="4476750"/>
            <a:ext cx="25070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4D39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SOLUZIONE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95400" y="4686300"/>
            <a:ext cx="23876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Creazione di un servizio di delivery proprietario, flotta interna e disintermediazione totale dei canali.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92699" y="2196554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4921299" y="3244304"/>
            <a:ext cx="25070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F8717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PROBLEMA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4921299" y="3453854"/>
            <a:ext cx="23876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Sito precedente lento e non ottimizzato mobile, con un tasso di abbandono carrello superiore al 60%.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921299" y="4476750"/>
            <a:ext cx="25070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4D39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SOLUZIONE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921299" y="4686300"/>
            <a:ext cx="23876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Riprogettazione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approccio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mobile-first ultra-veloce, checkout "3-click" e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pagamenti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Apple/Google Pay.</a:t>
            </a:r>
            <a:endParaRPr dirty="0"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18599" y="219655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8547199" y="3244304"/>
            <a:ext cx="25070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F8717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PROBLEMA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8547199" y="3453854"/>
            <a:ext cx="23876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follower social visualizzano i post passivamente senza completare l'ordine sul web.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547199" y="4476750"/>
            <a:ext cx="250703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4D39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SOLUZIONE</a:t>
            </a:r>
            <a:endParaRPr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8547199" y="4686300"/>
            <a:ext cx="2387649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Integrazione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automatica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Instagram/FB Shop e chatbot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intelligenti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inviare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coupon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diretti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nei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messaggi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privati</a:t>
            </a:r>
            <a:r>
              <a:rPr lang="en-US" sz="975" b="0" i="0" u="none" strike="noStrike" cap="none" dirty="0">
                <a:solidFill>
                  <a:srgbClr val="E4E4E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22165"/>
            <a:ext cx="339729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322165"/>
            <a:ext cx="3397299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2322165"/>
            <a:ext cx="3397299" cy="29564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962025" y="581025"/>
            <a:ext cx="1098137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SOLUZIONI CREATIVE OUT-OF-THE-BOX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71525" y="581025"/>
            <a:ext cx="47625" cy="409575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066800" y="3207990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Configuratore AR 3D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066800" y="3541365"/>
            <a:ext cx="28067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VISUALIZZAZIONE INTERATTIVA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66800" y="3868935"/>
            <a:ext cx="2806749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1A1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configuratore 3D in-app e un filtro Instagram in Realtà Aumentata (AR) per comporre virtualmente il proprio burger strato dopo strato. Risolve l'indecisione sulla scelta degli ingredienti extra, aumentando lo scontrino medio stimato del 18%.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692699" y="3207990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"Waiting-Time" Experience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692699" y="3541365"/>
            <a:ext cx="28067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INTRATTENIMENTO &amp; ENGAGEMENT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692699" y="3868935"/>
            <a:ext cx="2806749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1A1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Trasforma il "tempo morto" dell'attesa della consegna in un'esperienza branded. Tramite notifiche push divertenti e geo-localizzate ("Il rider sta piegando in curva", "La piastra è bollente") e una playlist Spotify esclusiva co-brandizzata sbloccata alla spedizione.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318599" y="3207990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"Secret Menu" Gamification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318599" y="3541365"/>
            <a:ext cx="28067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COLLEZIONISMO &amp; FOMO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18599" y="3868935"/>
            <a:ext cx="2806749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1A1A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Incentiva la ricorrenza degli ordini tramite ricette "segrete" a tempo limitato sbloccabili solo con il completamento di sfide digitali in-app (es. effettuare un ordine durante una serata piovosa o collezionare 3 badge con ordini di salse speciali).</a:t>
            </a:r>
            <a:endParaRPr/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63649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63649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8599" y="263649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912590"/>
            <a:ext cx="2095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7972425" y="1912590"/>
            <a:ext cx="2286000" cy="4000500"/>
          </a:xfrm>
          <a:prstGeom prst="roundRect">
            <a:avLst>
              <a:gd name="adj" fmla="val 16666"/>
            </a:avLst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CONCEPT &amp; VISION: L'IDEA GUIDA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Andiamo oltre la classica paninoteca: creiamo un vero e proprio ecosistema digitale integrato.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5391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60908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6424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4825" y="1969740"/>
            <a:ext cx="19812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48475" y="191065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048500" y="1915417"/>
            <a:ext cx="79176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INTEGRAZIONE</a:t>
            </a:r>
            <a:endParaRPr/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11916" y="248215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1011941" y="2486917"/>
            <a:ext cx="465683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QUALITÀ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4875" y="287774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1323975" y="2725340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IDENTITÀ CULINARIA &amp; TECH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323975" y="2963465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Fondere la passione artigianale per gli hamburger gourmet a una filiera digitale iper-connessa per azzerare le distanze con il cliente.</a:t>
            </a:r>
            <a:endParaRPr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2012" y="373290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323975" y="3580507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FOCUS SULLA COMMUNITY LOCALE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323975" y="3818632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Trasformare ogni ordinazione in un punto di contatto interattivo, stimolando la fidelizzazione attraverso logiche di gamification ed eventi dedicati.</a:t>
            </a:r>
            <a:endParaRPr/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5825" y="458807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1323975" y="4435673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SOSTENIBILITÀ TRASPARENTE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323975" y="4673798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Utilizzare la tecnologia per mostrare e garantire la tracciabilità totale degli ingredienti a Km0, stringendo un patto di fiducia con chi ci sceglie.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VISION: COSA HA ISPIRATO L'APP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Analisi dei trend di mercato e modelli applicativi di successo internazionale.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104900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 GRANDI DEL FAST FOOD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04900" y="3647330"/>
            <a:ext cx="4505325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Abbiamo studiato la fluidità e la gamification dei leader mondiali (es. McDonald's App). L'obiettivo è replicare la velocità d'acquisto a 3 click inserendo però elementi di unicità artigianale e narrazione del prodotto.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581775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GIGANTI DEL DELIVERY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81775" y="3647330"/>
            <a:ext cx="4505325" cy="88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L'integrazione logistica si ispira alla precisione di Deliveroo, ma puntiamo a un delivery proprietario. In questo modo evitiamo commissioni esterne, gestiamo direttamente la flotta e manteniamo il controllo totale sulla qualità della consegna.</a:t>
            </a:r>
            <a:endParaRPr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30443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4430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7675" y="1912590"/>
            <a:ext cx="2095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7972425" y="1912590"/>
            <a:ext cx="2286000" cy="4000500"/>
          </a:xfrm>
          <a:prstGeom prst="roundRect">
            <a:avLst>
              <a:gd name="adj" fmla="val 16666"/>
            </a:avLst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VISION: ISPIRAZIONE SOCIAL &amp; WEB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Il passaggio dall'advertising passivo a una community attiva e conversazionale.</a:t>
            </a:r>
            <a:endParaRPr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968228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3666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69740"/>
            <a:ext cx="19812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7975" y="5505450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6838950" y="5510212"/>
            <a:ext cx="62671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INSTAGRAM</a:t>
            </a:r>
            <a:endParaRPr/>
          </a:p>
        </p:txBody>
      </p:sp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83775" y="5029200"/>
            <a:ext cx="762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0836175" y="5033962"/>
            <a:ext cx="593824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FACEBOOK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5350" y="3092053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1323975" y="2939653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STORYTELLING AUTENTICO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323975" y="3177778"/>
            <a:ext cx="50958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Ispirati dal social marketing basato sui contenuti virali generati dagli utenti (UGC). I social non mostrano solo grafiche promozionali, ma persone reali, ingredienti freschi e la vita quotidiana in cucina.</a:t>
            </a:r>
            <a:endParaRPr/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5825" y="416049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323975" y="4008090"/>
            <a:ext cx="53506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INTERATTIVITÀ FLUIDA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323975" y="4246215"/>
            <a:ext cx="50958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Il sito web deve fungere da hub interattivo. Un'unica interfaccia reattiva che connette i post Instagram e Facebook direttamente al carrello d'acquisto per eliminare ogni frizione nel customer journey.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896046"/>
            <a:ext cx="2524125" cy="203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OBIETTIVI DELLA CAMPAGNA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Quattro pilastri strategici macro su cui abbiamo concentrato le nostre forze.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224431" y="3791396"/>
            <a:ext cx="15992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VISIBILITÀ SOCIAL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52500" y="4086671"/>
            <a:ext cx="2143125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Format video costanti e campagne geolocalizzate per catturare la community locale.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195182" y="3791396"/>
            <a:ext cx="108701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APP MOBILE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3667125" y="4086671"/>
            <a:ext cx="2143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Ordinazioni immediate, notifiche push intelligenti e sconti dedicati.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689076" y="3680209"/>
            <a:ext cx="152847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SITO ATTRATTIVO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6381750" y="4086671"/>
            <a:ext cx="2143125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Sito internet ultra-veloce e perfettamente ottimizzato per acquisti via smartphone.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565834" y="3791396"/>
            <a:ext cx="120405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SOCIAL LOOP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096375" y="4086671"/>
            <a:ext cx="2143125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9C9C"/>
                </a:solidFill>
                <a:latin typeface="Inter"/>
                <a:ea typeface="Inter"/>
                <a:cs typeface="Inter"/>
                <a:sym typeface="Inter"/>
              </a:rPr>
              <a:t>Connettere i profili social (IG e FB) direttamente all'acquisto per un'esperienza a 360°.</a:t>
            </a:r>
            <a:endParaRPr/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2612" y="323894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9150" y="3238946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1862" y="323894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96487" y="3238946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484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98340"/>
            <a:ext cx="4114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MACRO 1: NUOVE STRATEGIE SOCIAL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Implementazione del "Social Loop" per convertire i follower in clienti attivi.</a:t>
            </a:r>
            <a:endParaRPr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217390"/>
            <a:ext cx="40767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95374" y="2786506"/>
            <a:ext cx="58388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Format Video </a:t>
            </a: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Brevi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(Reels &amp; TikTok):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Creazione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contenuti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video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settimanali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dedicati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al "Food Porn"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artigianale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, al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dietro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le quinte in cucina e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alla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preparazione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delle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salse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segrete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1" name="Google Shape;201;p18"/>
          <p:cNvSpPr txBox="1"/>
          <p:nvPr/>
        </p:nvSpPr>
        <p:spPr>
          <a:xfrm>
            <a:off x="1095375" y="3591371"/>
            <a:ext cx="5838825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Integrazione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Instagram &amp; Facebook Shop: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Tag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diretto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burger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nei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post e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nelle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storie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Cliccando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sull'ingrediente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l'utente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viene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reindirizzato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automatico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alla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pagina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ordine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rapido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2" name="Google Shape;202;p18"/>
          <p:cNvSpPr txBox="1"/>
          <p:nvPr/>
        </p:nvSpPr>
        <p:spPr>
          <a:xfrm>
            <a:off x="1095375" y="4386708"/>
            <a:ext cx="58388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Social Commerce &amp; Chatbot:</a:t>
            </a:r>
            <a:r>
              <a:rPr lang="en-US" sz="1125" b="0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Risposte automatiche intelligenti su Messenger e DM di Instagram per inviare coupon esclusivi a chi commenta o interagisce con i nostri post.</a:t>
            </a:r>
            <a:endParaRPr/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1591" y="291033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6151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10521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2198340"/>
            <a:ext cx="4114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MACRO 2: L'APP MOBILE &amp; ORDINAZIONI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Un'interfaccia proprietaria ad altissimo tasso di conversione.</a:t>
            </a:r>
            <a:endParaRPr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0" y="2217390"/>
            <a:ext cx="40767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1095374" y="2862230"/>
            <a:ext cx="58388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UX </a:t>
            </a: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Semplificata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(3 Click):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Interfaccia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minimale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pensata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per un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utilizzo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rapido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mobilità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Selezione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del panino,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scelta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dell'orario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ritiro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consegna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pagamento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sicuro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immediato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1095375" y="3698527"/>
            <a:ext cx="58388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Notifiche Push Geolocalizzate:</a:t>
            </a:r>
            <a:r>
              <a:rPr lang="en-US" sz="1125" b="0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Avvisi contestuali inviati quando l'utente si trova in prossimità dello store per proporre l'offerta del giorno o ricordare i punti fedeltà attivi.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1095373" y="4581532"/>
            <a:ext cx="58388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Pagamenti</a:t>
            </a:r>
            <a:r>
              <a:rPr lang="en-US" sz="1125" b="1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One-Touch: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Integrazione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fluida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con Apple Pay, Google Pay e le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principali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carte di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credito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velocizzare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drasticamente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125" b="0" i="0" u="none" strike="noStrike" cap="none" dirty="0" err="1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fase</a:t>
            </a:r>
            <a:r>
              <a:rPr lang="en-US" sz="1125" b="0" i="0" u="none" strike="noStrike" cap="none" dirty="0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di checkout.</a:t>
            </a:r>
            <a:endParaRPr dirty="0"/>
          </a:p>
        </p:txBody>
      </p:sp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75" y="289605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7223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50" y="458153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52005"/>
            <a:ext cx="5191125" cy="192166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MACRO 3: NUOVO SITO ATTRATTIVO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Progettato specificamente per le esigenze del mobile web e dell'instant ordering.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104900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VELOCITÀ E PERFORMANCE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104900" y="3647330"/>
            <a:ext cx="4505325" cy="88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Il nuovo portale web è leggerissimo e ottimizzato per caricarsi istantaneamente anche sotto copertura di rete minima. Riduzione dei tempi di caricamento del 65% rispetto alla versione precedente, abbattendo il tasso di abbandono del carrello.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581775" y="329490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APPROCCIO MOBILE-FIRST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581775" y="3647330"/>
            <a:ext cx="4505325" cy="88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Ogni elemento grafico è pensato per gli schermi verticali degli smartphone. Menu interattivo con foto HD a pieno schermo, navigazione tramite swipe e totale integrazione dinamica con il database centrale dell'app mobile.</a:t>
            </a:r>
            <a:endParaRPr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3044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4430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904875" y="571500"/>
            <a:ext cx="4950618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MACRO 4: PROMO &amp; FILOSOFIA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762000" y="571500"/>
            <a:ext cx="47625" cy="819150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762000" y="2624137"/>
            <a:ext cx="51006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ETICA, TERRITORIO E COINVOLGIMENTO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62000" y="3005137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Uniamo la convenienza delle promozioni a un forte posizionamento valoriale.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095375" y="3652837"/>
            <a:ext cx="45243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Passaporto Digitale:</a:t>
            </a:r>
            <a:r>
              <a:rPr lang="en-US" sz="1125" b="0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Accumulo di punti reali completando "missioni" nei nostri store fisici o ordinando online.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095375" y="4233862"/>
            <a:ext cx="45243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Combo Etiche:</a:t>
            </a:r>
            <a:r>
              <a:rPr lang="en-US" sz="1125" b="0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Menu speciali con parte del ricavato devoluto ad associazioni no-profit del territorio.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1095375" y="4814887"/>
            <a:ext cx="452437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Food Truck Network:</a:t>
            </a:r>
            <a:r>
              <a:rPr lang="en-US" sz="1125" b="0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Stand itineranti nei grandi eventi per convertire i clienti fisici all'utilizzo dell'app mobile.</a:t>
            </a:r>
            <a:endParaRPr/>
          </a:p>
        </p:txBody>
      </p:sp>
      <p:pic>
        <p:nvPicPr>
          <p:cNvPr id="251" name="Google Shape;25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6766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25767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838700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062436"/>
            <a:ext cx="5191125" cy="170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VANTAGGI COMPETITIVI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Perché la nostra offerta integrata si distingue nettamente dai concorrenti tradizionali.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104900" y="3405336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OMNICANALITÀ REALE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104900" y="3757761"/>
            <a:ext cx="4505325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Nessun silos di dati. Che il cliente ordini dal sito, dall'app, via social o consumi direttamente al tavolo in store, lo storico degli ordini e i punti fedeltà del suo Passaporto Digitale sono sincronizzati in tempo reale.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581775" y="3405336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IPER-PERSONALIZZAZIONE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581775" y="3757761"/>
            <a:ext cx="4505325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L'app analizza le preferenze, le intolleranze e gli acquisti passati per suggerire in automatico abbinamenti ideali, salse personalizzate e sconti dedicati esclusivamente ai gusti specifici di ciascun utente.</a:t>
            </a:r>
            <a:endParaRPr/>
          </a:p>
        </p:txBody>
      </p:sp>
      <p:pic>
        <p:nvPicPr>
          <p:cNvPr id="268" name="Google Shape;26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341486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41486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6175" y="260985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175" y="4008090"/>
            <a:ext cx="27336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904875" y="571500"/>
            <a:ext cx="110513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Outfit Black"/>
                <a:ea typeface="Outfit Black"/>
                <a:cs typeface="Outfit Black"/>
                <a:sym typeface="Outfit Black"/>
              </a:rPr>
              <a:t>RISULTATI ATTESI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762000" y="571500"/>
            <a:ext cx="47625" cy="409575"/>
          </a:xfrm>
          <a:prstGeom prst="rect">
            <a:avLst/>
          </a:prstGeom>
          <a:solidFill>
            <a:srgbClr val="F95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762000" y="1057275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Le proiezioni di crescita stimate entro i primi 12 mesi dal lancio della nuova piattaforma.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800850" y="2940694"/>
            <a:ext cx="486060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CRESCITA OPERATIVA SOSTENIBILE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800850" y="3274069"/>
            <a:ext cx="462915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La disintermediazione dalle grandi piattaforme di terze parti (come Just Eat o Deliveroo) ci permetterà di recuperare importanti punti di marginalità sul delivery.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6800850" y="4079527"/>
            <a:ext cx="4629150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Il focus sulla community locale e sulle dinamiche interattive dei social incrementerà la frequenza media d'acquisto, gettando le basi per un brand scalabile e di proprietà.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000125" y="284797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+45%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000125" y="339849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ORDINI DIRETTI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3924300" y="284797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+30%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3924300" y="339849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FIDELIZZAZIONE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000125" y="424621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+15k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000125" y="479673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DOWNLOAD APP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3924300" y="4246215"/>
            <a:ext cx="2257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95707"/>
                </a:solidFill>
                <a:latin typeface="Outfit Black"/>
                <a:ea typeface="Outfit Black"/>
                <a:cs typeface="Outfit Black"/>
                <a:sym typeface="Outfit Black"/>
              </a:rPr>
              <a:t>-20%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3924300" y="4796730"/>
            <a:ext cx="22574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COSTI LOGISTICI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A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9182" y="4050952"/>
            <a:ext cx="3373487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2095500" y="2435572"/>
            <a:ext cx="8001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IL FUTURO È </a:t>
            </a:r>
            <a:r>
              <a:rPr lang="en-US" sz="4050" b="0" i="0" u="none" strike="noStrike" cap="none">
                <a:solidFill>
                  <a:srgbClr val="F95707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DIGITALE.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2286000" y="3168997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Grazie per l'attenzione. Unisciti alla rivoluzione mobile di Just Burgers e scopri come stiamo ridefinendo l'esperienza del fast-food artigianale.</a:t>
            </a:r>
            <a:endParaRPr/>
          </a:p>
        </p:txBody>
      </p:sp>
      <p:pic>
        <p:nvPicPr>
          <p:cNvPr id="301" name="Google Shape;30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7307" y="4165252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1248</Words>
  <Application>Microsoft Office PowerPoint</Application>
  <PresentationFormat>Widescreen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6" baseType="lpstr">
      <vt:lpstr>Inter Black</vt:lpstr>
      <vt:lpstr>Arial</vt:lpstr>
      <vt:lpstr>Outfit Black</vt:lpstr>
      <vt:lpstr>Calibri</vt:lpstr>
      <vt:lpstr>Inter SemiBold</vt:lpstr>
      <vt:lpstr>Outfit</vt:lpstr>
      <vt:lpstr>Plus Jakarta Sans SemiBold</vt:lpstr>
      <vt:lpstr>Outfit ExtraBold</vt:lpstr>
      <vt:lpstr>Inter</vt:lpstr>
      <vt:lpstr>Plus Jakarta Sans</vt:lpstr>
      <vt:lpstr>Poppins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Mattia Rizzi</dc:creator>
  <cp:lastModifiedBy>Mattia Rizzi</cp:lastModifiedBy>
  <cp:revision>3</cp:revision>
  <dcterms:modified xsi:type="dcterms:W3CDTF">2026-06-29T17:37:34Z</dcterms:modified>
</cp:coreProperties>
</file>
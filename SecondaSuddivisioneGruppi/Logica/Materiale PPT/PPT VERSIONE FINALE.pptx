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Inter" panose="020B0604020202020204" charset="0"/>
      <p:regular r:id="rId15"/>
      <p:bold r:id="rId16"/>
      <p:italic r:id="rId17"/>
      <p:boldItalic r:id="rId18"/>
    </p:embeddedFont>
    <p:embeddedFont>
      <p:font typeface="Inter Black" panose="020B0604020202020204" charset="0"/>
      <p:bold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  <p:embeddedFont>
      <p:font typeface="Outfit" panose="020B0604020202020204" charset="0"/>
      <p:regular r:id="rId25"/>
      <p:bold r:id="rId26"/>
    </p:embeddedFont>
    <p:embeddedFont>
      <p:font typeface="Outfit Black" panose="020B0604020202020204" charset="0"/>
      <p:bold r:id="rId27"/>
    </p:embeddedFont>
    <p:embeddedFont>
      <p:font typeface="Outfit ExtraBold" panose="020B0604020202020204" charset="0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77150" y="1809750"/>
            <a:ext cx="3238500" cy="32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00900" y="1333500"/>
            <a:ext cx="4191000" cy="4191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676275" y="623334"/>
            <a:ext cx="6400800" cy="2243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latin typeface="Inter Black"/>
                <a:ea typeface="Inter Black"/>
                <a:cs typeface="Inter Black"/>
                <a:sym typeface="Inter Black"/>
              </a:rPr>
              <a:t>J</a:t>
            </a:r>
            <a:r>
              <a:rPr lang="en-US" sz="5400" b="0" i="0" u="none" strike="noStrike" cap="none" dirty="0">
                <a:solidFill>
                  <a:srgbClr val="000000"/>
                </a:solidFill>
                <a:latin typeface="Inter Black"/>
                <a:ea typeface="Inter Black"/>
                <a:cs typeface="Inter Black"/>
                <a:sym typeface="Inter Black"/>
              </a:rPr>
              <a:t>ST</a:t>
            </a:r>
          </a:p>
          <a:p>
            <a:pPr marL="0" marR="0" lvl="0" indent="0" algn="l" rtl="0">
              <a:lnSpc>
                <a:spcPct val="8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 dirty="0">
                <a:solidFill>
                  <a:srgbClr val="F95707"/>
                </a:solidFill>
                <a:latin typeface="Inter Black"/>
                <a:ea typeface="Inter Black"/>
                <a:cs typeface="Inter Black"/>
                <a:sym typeface="Inter Black"/>
              </a:rPr>
              <a:t>JUST </a:t>
            </a:r>
          </a:p>
          <a:p>
            <a:pPr marL="0" marR="0" lvl="0" indent="0" algn="l" rtl="0">
              <a:lnSpc>
                <a:spcPct val="8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0" i="0" u="none" strike="noStrike" cap="none" dirty="0">
                <a:solidFill>
                  <a:srgbClr val="F95707"/>
                </a:solidFill>
                <a:latin typeface="Inter Black"/>
                <a:ea typeface="Inter Black"/>
                <a:cs typeface="Inter Black"/>
                <a:sym typeface="Inter Black"/>
              </a:rPr>
              <a:t>BURGERS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2867025"/>
            <a:ext cx="64008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F9570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CAMPAGNA PUBBLICITARIA DIGITALE</a:t>
            </a:r>
            <a:endParaRPr dirty="0"/>
          </a:p>
        </p:txBody>
      </p:sp>
      <p:sp>
        <p:nvSpPr>
          <p:cNvPr id="89" name="Google Shape;89;p13"/>
          <p:cNvSpPr txBox="1"/>
          <p:nvPr/>
        </p:nvSpPr>
        <p:spPr>
          <a:xfrm>
            <a:off x="762000" y="3181350"/>
            <a:ext cx="6720840" cy="100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NUOVA ESPERIENZA MOBILE &amp; DELIVERY</a:t>
            </a:r>
            <a:endParaRPr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762000" y="4377630"/>
            <a:ext cx="4953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8F8F8F"/>
                </a:solidFill>
                <a:latin typeface="Inter"/>
                <a:ea typeface="Inter"/>
                <a:cs typeface="Inter"/>
                <a:sym typeface="Inter"/>
              </a:rPr>
              <a:t>Unire un'identità culinaria forte a una tecnologia all'avanguardia per servire al meglio la nostra community, ovunque si trovi.</a:t>
            </a:r>
            <a:endParaRPr/>
          </a:p>
        </p:txBody>
      </p:sp>
      <p:pic>
        <p:nvPicPr>
          <p:cNvPr id="92" name="Google Shape;92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86850" y="1914525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477125" y="3219450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46109" y="4905375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10675" y="204787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20000" y="3352800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660409" y="5038725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772400" y="1905000"/>
            <a:ext cx="30480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7675" y="1912590"/>
            <a:ext cx="20955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/>
          <p:nvPr/>
        </p:nvSpPr>
        <p:spPr>
          <a:xfrm>
            <a:off x="7972425" y="1912590"/>
            <a:ext cx="2286000" cy="4000500"/>
          </a:xfrm>
          <a:prstGeom prst="roundRect">
            <a:avLst>
              <a:gd name="adj" fmla="val 16666"/>
            </a:avLst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CONCEPT &amp; VISION: L'IDEA GUIDA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Andiamo oltre la classica paninoteca: creiamo un vero e proprio ecosistema digitale integrato.</a:t>
            </a:r>
            <a:endParaRPr/>
          </a:p>
        </p:txBody>
      </p:sp>
      <p:pic>
        <p:nvPicPr>
          <p:cNvPr id="110" name="Google Shape;11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753915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3609082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4464248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124825" y="1969740"/>
            <a:ext cx="198120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848475" y="1910655"/>
            <a:ext cx="12382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7048500" y="1915417"/>
            <a:ext cx="79176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INTEGRAZIONE</a:t>
            </a:r>
            <a:endParaRPr/>
          </a:p>
        </p:txBody>
      </p:sp>
      <p:pic>
        <p:nvPicPr>
          <p:cNvPr id="116" name="Google Shape;116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811916" y="2482155"/>
            <a:ext cx="12382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4"/>
          <p:cNvSpPr txBox="1"/>
          <p:nvPr/>
        </p:nvSpPr>
        <p:spPr>
          <a:xfrm>
            <a:off x="11011941" y="2486917"/>
            <a:ext cx="46568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QUALITÀ</a:t>
            </a:r>
            <a:endParaRPr/>
          </a:p>
        </p:txBody>
      </p:sp>
      <p:pic>
        <p:nvPicPr>
          <p:cNvPr id="118" name="Google Shape;118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04875" y="2877740"/>
            <a:ext cx="1333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4"/>
          <p:cNvSpPr txBox="1"/>
          <p:nvPr/>
        </p:nvSpPr>
        <p:spPr>
          <a:xfrm>
            <a:off x="1323975" y="2725340"/>
            <a:ext cx="535066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IDENTITÀ CULINARIA &amp; TECH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1323975" y="2963465"/>
            <a:ext cx="509587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Fondere la passione artigianale per gli hamburger gourmet a una filiera digitale iper-connessa per azzerare le distanze con il cliente.</a:t>
            </a:r>
            <a:endParaRPr/>
          </a:p>
        </p:txBody>
      </p:sp>
      <p:pic>
        <p:nvPicPr>
          <p:cNvPr id="121" name="Google Shape;121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2012" y="3732907"/>
            <a:ext cx="2190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4"/>
          <p:cNvSpPr txBox="1"/>
          <p:nvPr/>
        </p:nvSpPr>
        <p:spPr>
          <a:xfrm>
            <a:off x="1323975" y="3580507"/>
            <a:ext cx="535066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FOCUS SULLA COMMUNITY LOCALE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323975" y="3818632"/>
            <a:ext cx="509587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Trasformare ogni ordinazione in un punto di contatto interattivo, stimolando la fidelizzazione attraverso logiche di gamification ed eventi dedicati.</a:t>
            </a:r>
            <a:endParaRPr/>
          </a:p>
        </p:txBody>
      </p:sp>
      <p:pic>
        <p:nvPicPr>
          <p:cNvPr id="124" name="Google Shape;124;p14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85825" y="4588073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14"/>
          <p:cNvSpPr txBox="1"/>
          <p:nvPr/>
        </p:nvSpPr>
        <p:spPr>
          <a:xfrm>
            <a:off x="1323975" y="4435673"/>
            <a:ext cx="535066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SOSTENIBILITÀ TRASPARENTE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1323975" y="4673798"/>
            <a:ext cx="5095875" cy="426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Utilizzare la tecnologia per mostrare e garantire la tracciabilità totale degli ingredienti a Km0, stringendo un patto di fiducia con chi ci sceglie.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5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VISION: COSA HA ISPIRATO L'APP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Analisi dei trend di mercato e modelli applicativi di successo internazionale.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104900" y="3294905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143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 GRANDI DEL FAST FOOD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104900" y="3647330"/>
            <a:ext cx="4505325" cy="66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Abbiamo studiato la fluidità e la gamification dei leader mondiali (es. McDonald's App). L'obiettivo è replicare la velocità d'acquisto a 3 click inserendo però elementi di unicità artigianale e narrazione del prodotto.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6581775" y="3294905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333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GIGANTI DEL DELIVERY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6581775" y="3647330"/>
            <a:ext cx="4505325" cy="883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L'integrazione logistica si ispira alla precisione di Deliveroo, ma puntiamo a un delivery proprietario. In questo modo evitiamo commissioni esterne, gestiamo direttamente la flotta e manteniamo il controllo totale sulla qualità della consegna.</a:t>
            </a:r>
            <a:endParaRPr/>
          </a:p>
        </p:txBody>
      </p:sp>
      <p:pic>
        <p:nvPicPr>
          <p:cNvPr id="141" name="Google Shape;14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900" y="3304430"/>
            <a:ext cx="2190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3304430"/>
            <a:ext cx="23812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7675" y="1912590"/>
            <a:ext cx="20955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6"/>
          <p:cNvSpPr/>
          <p:nvPr/>
        </p:nvSpPr>
        <p:spPr>
          <a:xfrm>
            <a:off x="7972425" y="1912590"/>
            <a:ext cx="2286000" cy="4000500"/>
          </a:xfrm>
          <a:prstGeom prst="roundRect">
            <a:avLst>
              <a:gd name="adj" fmla="val 16666"/>
            </a:avLst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VISION: ISPIRAZIONE SOCIAL &amp; WEB</a:t>
            </a:r>
            <a:endParaRPr/>
          </a:p>
        </p:txBody>
      </p:sp>
      <p:sp>
        <p:nvSpPr>
          <p:cNvPr id="151" name="Google Shape;151;p16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Il passaggio dall'advertising passivo a una community attiva e conversazionale.</a:t>
            </a:r>
            <a:endParaRPr/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968228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036665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1969740"/>
            <a:ext cx="198120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57975" y="5505450"/>
            <a:ext cx="10477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6838950" y="5510212"/>
            <a:ext cx="62671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INSTAGRAM</a:t>
            </a:r>
            <a:endParaRPr/>
          </a:p>
        </p:txBody>
      </p:sp>
      <p:pic>
        <p:nvPicPr>
          <p:cNvPr id="158" name="Google Shape;15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683775" y="5029200"/>
            <a:ext cx="76200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 txBox="1"/>
          <p:nvPr/>
        </p:nvSpPr>
        <p:spPr>
          <a:xfrm>
            <a:off x="10836175" y="5033962"/>
            <a:ext cx="593824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1" i="0" u="none" strike="noStrike" cap="non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FACEBOOK</a:t>
            </a:r>
            <a:endParaRPr/>
          </a:p>
        </p:txBody>
      </p:sp>
      <p:pic>
        <p:nvPicPr>
          <p:cNvPr id="160" name="Google Shape;160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95350" y="3092053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/>
          <p:cNvSpPr txBox="1"/>
          <p:nvPr/>
        </p:nvSpPr>
        <p:spPr>
          <a:xfrm>
            <a:off x="1323975" y="2939653"/>
            <a:ext cx="535066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STORYTELLING AUTENTICO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1323975" y="3177778"/>
            <a:ext cx="509587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Ispirati dal social marketing basato sui contenuti virali generati dagli utenti (UGC). I social non mostrano solo grafiche promozionali, ma persone reali, ingredienti freschi e la vita quotidiana in cucina.</a:t>
            </a:r>
            <a:endParaRPr/>
          </a:p>
        </p:txBody>
      </p:sp>
      <p:pic>
        <p:nvPicPr>
          <p:cNvPr id="163" name="Google Shape;163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5825" y="4160490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1323975" y="4008090"/>
            <a:ext cx="535066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INTERATTIVITÀ FLUIDA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1323975" y="4246215"/>
            <a:ext cx="5095875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Il sito web deve fungere da hub interattivo. Un'unica interfaccia reattiva che connette i post Instagram e Facebook direttamente al carrello d'acquisto per eliminare ogni frizione nel customer journey.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76625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05875" y="2896046"/>
            <a:ext cx="2524125" cy="2033587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OBIETTIVI DELLA CAMPAGNA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Quattro pilastri strategici macro su cui abbiamo concentrato le nostre forze.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1224431" y="3791396"/>
            <a:ext cx="1599262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VISIBILITÀ SOCIAL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52500" y="4086671"/>
            <a:ext cx="2143125" cy="557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C9C9C"/>
                </a:solidFill>
                <a:latin typeface="Inter"/>
                <a:ea typeface="Inter"/>
                <a:cs typeface="Inter"/>
                <a:sym typeface="Inter"/>
              </a:rPr>
              <a:t>Format video costanti e campagne geolocalizzate per catturare la community locale.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4195182" y="3791396"/>
            <a:ext cx="108701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APP MOBILE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3667125" y="4086671"/>
            <a:ext cx="21431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C9C9C"/>
                </a:solidFill>
                <a:latin typeface="Inter"/>
                <a:ea typeface="Inter"/>
                <a:cs typeface="Inter"/>
                <a:sym typeface="Inter"/>
              </a:rPr>
              <a:t>Ordinazioni immediate, notifiche push intelligenti e sconti dedicati.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6689076" y="3680209"/>
            <a:ext cx="1528472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SITO ATTRATTIVO</a:t>
            </a:r>
            <a:endParaRPr dirty="0"/>
          </a:p>
        </p:txBody>
      </p:sp>
      <p:sp>
        <p:nvSpPr>
          <p:cNvPr id="183" name="Google Shape;183;p17"/>
          <p:cNvSpPr txBox="1"/>
          <p:nvPr/>
        </p:nvSpPr>
        <p:spPr>
          <a:xfrm>
            <a:off x="6381750" y="4086671"/>
            <a:ext cx="2143125" cy="557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C9C9C"/>
                </a:solidFill>
                <a:latin typeface="Inter"/>
                <a:ea typeface="Inter"/>
                <a:cs typeface="Inter"/>
                <a:sym typeface="Inter"/>
              </a:rPr>
              <a:t>Sito internet ultra-veloce e perfettamente ottimizzato per acquisti via smartphone.</a:t>
            </a:r>
            <a:endParaRPr/>
          </a:p>
        </p:txBody>
      </p:sp>
      <p:sp>
        <p:nvSpPr>
          <p:cNvPr id="184" name="Google Shape;184;p17"/>
          <p:cNvSpPr txBox="1"/>
          <p:nvPr/>
        </p:nvSpPr>
        <p:spPr>
          <a:xfrm>
            <a:off x="9565834" y="3791396"/>
            <a:ext cx="1204056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SOCIAL LOOP</a:t>
            </a:r>
            <a:endParaRPr/>
          </a:p>
        </p:txBody>
      </p:sp>
      <p:sp>
        <p:nvSpPr>
          <p:cNvPr id="185" name="Google Shape;185;p17"/>
          <p:cNvSpPr txBox="1"/>
          <p:nvPr/>
        </p:nvSpPr>
        <p:spPr>
          <a:xfrm>
            <a:off x="9096375" y="4086671"/>
            <a:ext cx="2143125" cy="5572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9C9C9C"/>
                </a:solidFill>
                <a:latin typeface="Inter"/>
                <a:ea typeface="Inter"/>
                <a:cs typeface="Inter"/>
                <a:sym typeface="Inter"/>
              </a:rPr>
              <a:t>Connettere i profili social (IG e FB) direttamente all'acquisto per un'esperienza a 360°.</a:t>
            </a:r>
            <a:endParaRPr/>
          </a:p>
        </p:txBody>
      </p:sp>
      <p:pic>
        <p:nvPicPr>
          <p:cNvPr id="186" name="Google Shape;186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852612" y="3238946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29150" y="3238946"/>
            <a:ext cx="21907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281862" y="3238946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996487" y="3238946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84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5200" y="2198340"/>
            <a:ext cx="41148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MACRO 1: NUOVE STRATEGIE SOCIAL</a:t>
            </a:r>
            <a:endParaRPr/>
          </a:p>
        </p:txBody>
      </p:sp>
      <p:sp>
        <p:nvSpPr>
          <p:cNvPr id="197" name="Google Shape;197;p18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Implementazione del "Social Loop" per convertire i follower in clienti attivi.</a:t>
            </a:r>
            <a:endParaRPr/>
          </a:p>
        </p:txBody>
      </p:sp>
      <p:pic>
        <p:nvPicPr>
          <p:cNvPr id="199" name="Google Shape;19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34250" y="2217390"/>
            <a:ext cx="4076700" cy="33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1095374" y="2786506"/>
            <a:ext cx="583882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Format Video </a:t>
            </a:r>
            <a:r>
              <a:rPr lang="en-US" sz="1125" b="1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Brevi</a:t>
            </a: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(Reels &amp; TikTok):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Creazione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contenuti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video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settimanali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dedicati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al "Food Porn"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artigianale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, al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dietro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le quinte in cucina e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alla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preparazione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delle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salse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segrete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01" name="Google Shape;201;p18"/>
          <p:cNvSpPr txBox="1"/>
          <p:nvPr/>
        </p:nvSpPr>
        <p:spPr>
          <a:xfrm>
            <a:off x="1095375" y="3591371"/>
            <a:ext cx="5838825" cy="642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Integrazione</a:t>
            </a: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Instagram &amp; Facebook Shop: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Tag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diretto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burger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nei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post e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nelle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storie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Cliccando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sull'ingrediente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l'utente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reindirizzato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automatico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alla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pagina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rapido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02" name="Google Shape;202;p18"/>
          <p:cNvSpPr txBox="1"/>
          <p:nvPr/>
        </p:nvSpPr>
        <p:spPr>
          <a:xfrm>
            <a:off x="1095375" y="4386708"/>
            <a:ext cx="583882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Social Commerce &amp; Chatbot:</a:t>
            </a:r>
            <a:r>
              <a:rPr lang="en-US" sz="1125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Risposte automatiche intelligenti su Messenger e DM di Instagram per inviare coupon esclusivi a chi commenta o interagisce con i nostri post.</a:t>
            </a:r>
            <a:endParaRPr/>
          </a:p>
        </p:txBody>
      </p:sp>
      <p:pic>
        <p:nvPicPr>
          <p:cNvPr id="203" name="Google Shape;203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1591" y="291033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3615183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2000" y="4410521"/>
            <a:ext cx="2190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5200" y="2198340"/>
            <a:ext cx="41148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9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MACRO 2: L'APP MOBILE &amp; ORDINAZIONI</a:t>
            </a:r>
            <a:endParaRPr/>
          </a:p>
        </p:txBody>
      </p:sp>
      <p:sp>
        <p:nvSpPr>
          <p:cNvPr id="213" name="Google Shape;213;p19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Un'interfaccia proprietaria ad altissimo tasso di conversione.</a:t>
            </a:r>
            <a:endParaRPr/>
          </a:p>
        </p:txBody>
      </p:sp>
      <p:pic>
        <p:nvPicPr>
          <p:cNvPr id="215" name="Google Shape;21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34250" y="2217390"/>
            <a:ext cx="4076700" cy="33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9"/>
          <p:cNvSpPr txBox="1"/>
          <p:nvPr/>
        </p:nvSpPr>
        <p:spPr>
          <a:xfrm>
            <a:off x="1095374" y="2862230"/>
            <a:ext cx="583882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UX </a:t>
            </a:r>
            <a:r>
              <a:rPr lang="en-US" sz="1125" b="1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Semplificata</a:t>
            </a: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(3 Click):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Interfaccia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minimale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pensata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per un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utilizzo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rapido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mobilità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Selezione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del panino,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scelta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dell'orario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ritiro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o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consegna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pagamento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sicuro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immediato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217" name="Google Shape;217;p19"/>
          <p:cNvSpPr txBox="1"/>
          <p:nvPr/>
        </p:nvSpPr>
        <p:spPr>
          <a:xfrm>
            <a:off x="1095375" y="3698527"/>
            <a:ext cx="583882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Notifiche Push Geolocalizzate:</a:t>
            </a:r>
            <a:r>
              <a:rPr lang="en-US" sz="1125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Avvisi contestuali inviati quando l'utente si trova in prossimità dello store per proporre l'offerta del giorno o ricordare i punti fedeltà attivi.</a:t>
            </a:r>
            <a:endParaRPr/>
          </a:p>
        </p:txBody>
      </p:sp>
      <p:sp>
        <p:nvSpPr>
          <p:cNvPr id="218" name="Google Shape;218;p19"/>
          <p:cNvSpPr txBox="1"/>
          <p:nvPr/>
        </p:nvSpPr>
        <p:spPr>
          <a:xfrm>
            <a:off x="1095373" y="4581532"/>
            <a:ext cx="583882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Pagamenti</a:t>
            </a:r>
            <a:r>
              <a:rPr lang="en-US" sz="1125" b="1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One-Touch: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Integrazione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fluida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con Apple Pay, Google Pay e le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principali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carte di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credito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velocizzare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drasticamente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125" b="0" i="0" u="none" strike="noStrike" cap="none" dirty="0" err="1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fase</a:t>
            </a:r>
            <a:r>
              <a:rPr lang="en-US" sz="1125" b="0" i="0" u="none" strike="noStrike" cap="none" dirty="0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di checkout.</a:t>
            </a:r>
            <a:endParaRPr dirty="0"/>
          </a:p>
        </p:txBody>
      </p:sp>
      <p:pic>
        <p:nvPicPr>
          <p:cNvPr id="219" name="Google Shape;219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2475" y="2896050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3722340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1050" y="4581532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952005"/>
            <a:ext cx="5191125" cy="1921668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MACRO 3: NUOVO SITO ATTRATTIVO</a:t>
            </a:r>
            <a:endParaRPr/>
          </a:p>
        </p:txBody>
      </p:sp>
      <p:sp>
        <p:nvSpPr>
          <p:cNvPr id="230" name="Google Shape;230;p20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0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Progettato specificamente per le esigenze del mobile web e dell'instant ordering.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1104900" y="3294905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VELOCITÀ E PERFORMANCE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1104900" y="3647330"/>
            <a:ext cx="4505325" cy="883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Il nuovo portale web è leggerissimo e ottimizzato per caricarsi istantaneamente anche sotto copertura di rete minima. Riduzione dei tempi di caricamento del 65% rispetto alla versione precedente, abbattendo il tasso di abbandono del carrello.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581775" y="3294905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81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APPROCCIO MOBILE-FIRST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581775" y="3647330"/>
            <a:ext cx="4505325" cy="883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Ogni elemento grafico è pensato per gli schermi verticali degli smartphone. Menu interattivo con foto HD a pieno schermo, navigazione tramite swipe e totale integrazione dinamica con il database centrale dell'app mobile.</a:t>
            </a:r>
            <a:endParaRPr/>
          </a:p>
        </p:txBody>
      </p:sp>
      <p:pic>
        <p:nvPicPr>
          <p:cNvPr id="236" name="Google Shape;236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900" y="3304430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3304430"/>
            <a:ext cx="142875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1"/>
          <p:cNvSpPr txBox="1"/>
          <p:nvPr/>
        </p:nvSpPr>
        <p:spPr>
          <a:xfrm>
            <a:off x="904875" y="571500"/>
            <a:ext cx="4950618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MACRO 4: PROMO &amp; FILOSOFIA</a:t>
            </a:r>
            <a:endParaRPr/>
          </a:p>
        </p:txBody>
      </p:sp>
      <p:sp>
        <p:nvSpPr>
          <p:cNvPr id="244" name="Google Shape;244;p21"/>
          <p:cNvSpPr/>
          <p:nvPr/>
        </p:nvSpPr>
        <p:spPr>
          <a:xfrm>
            <a:off x="762000" y="571500"/>
            <a:ext cx="47625" cy="819150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1"/>
          <p:cNvSpPr txBox="1"/>
          <p:nvPr/>
        </p:nvSpPr>
        <p:spPr>
          <a:xfrm>
            <a:off x="762000" y="2624137"/>
            <a:ext cx="510063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ETICA, TERRITORIO E COINVOLGIMENTO</a:t>
            </a:r>
            <a:endParaRPr/>
          </a:p>
        </p:txBody>
      </p:sp>
      <p:sp>
        <p:nvSpPr>
          <p:cNvPr id="247" name="Google Shape;247;p21"/>
          <p:cNvSpPr txBox="1"/>
          <p:nvPr/>
        </p:nvSpPr>
        <p:spPr>
          <a:xfrm>
            <a:off x="762000" y="3005137"/>
            <a:ext cx="48577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Uniamo la convenienza delle promozioni a un forte posizionamento valoriale.</a:t>
            </a:r>
            <a:endParaRPr/>
          </a:p>
        </p:txBody>
      </p:sp>
      <p:sp>
        <p:nvSpPr>
          <p:cNvPr id="248" name="Google Shape;248;p21"/>
          <p:cNvSpPr txBox="1"/>
          <p:nvPr/>
        </p:nvSpPr>
        <p:spPr>
          <a:xfrm>
            <a:off x="1095375" y="3652837"/>
            <a:ext cx="45243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Passaporto Digitale:</a:t>
            </a:r>
            <a:r>
              <a:rPr lang="en-US" sz="1125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Accumulo di punti reali completando "missioni" nei nostri store fisici o ordinando online.</a:t>
            </a:r>
            <a:endParaRPr/>
          </a:p>
        </p:txBody>
      </p:sp>
      <p:sp>
        <p:nvSpPr>
          <p:cNvPr id="249" name="Google Shape;249;p21"/>
          <p:cNvSpPr txBox="1"/>
          <p:nvPr/>
        </p:nvSpPr>
        <p:spPr>
          <a:xfrm>
            <a:off x="1095375" y="4233862"/>
            <a:ext cx="45243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Combo Etiche:</a:t>
            </a:r>
            <a:r>
              <a:rPr lang="en-US" sz="1125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Menu speciali con parte del ricavato devoluto ad associazioni no-profit del territorio.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1095375" y="4814887"/>
            <a:ext cx="45243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Food Truck Network:</a:t>
            </a:r>
            <a:r>
              <a:rPr lang="en-US" sz="1125" b="0" i="0" u="none" strike="noStrike" cap="none">
                <a:solidFill>
                  <a:srgbClr val="B3B3B3"/>
                </a:solidFill>
                <a:latin typeface="Inter"/>
                <a:ea typeface="Inter"/>
                <a:cs typeface="Inter"/>
                <a:sym typeface="Inter"/>
              </a:rPr>
              <a:t> Stand itineranti nei grandi eventi per convertire i clienti fisici all'utilizzo dell'app mobile.</a:t>
            </a:r>
            <a:endParaRPr/>
          </a:p>
        </p:txBody>
      </p:sp>
      <p:pic>
        <p:nvPicPr>
          <p:cNvPr id="251" name="Google Shape;251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676650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257675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4838700"/>
            <a:ext cx="219075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062436"/>
            <a:ext cx="5191125" cy="17008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3062436"/>
            <a:ext cx="5191125" cy="1700807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VANTAGGI COMPETITIVI</a:t>
            </a:r>
            <a:endParaRPr/>
          </a:p>
        </p:txBody>
      </p:sp>
      <p:sp>
        <p:nvSpPr>
          <p:cNvPr id="262" name="Google Shape;262;p22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Perché la nostra offerta integrata si distingue nettamente dai concorrenti tradizionali.</a:t>
            </a:r>
            <a:endParaRPr/>
          </a:p>
        </p:txBody>
      </p:sp>
      <p:sp>
        <p:nvSpPr>
          <p:cNvPr id="264" name="Google Shape;264;p22"/>
          <p:cNvSpPr txBox="1"/>
          <p:nvPr/>
        </p:nvSpPr>
        <p:spPr>
          <a:xfrm>
            <a:off x="1104900" y="3405336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67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OMNICANALITÀ REALE</a:t>
            </a:r>
            <a:endParaRPr/>
          </a:p>
        </p:txBody>
      </p:sp>
      <p:sp>
        <p:nvSpPr>
          <p:cNvPr id="265" name="Google Shape;265;p22"/>
          <p:cNvSpPr txBox="1"/>
          <p:nvPr/>
        </p:nvSpPr>
        <p:spPr>
          <a:xfrm>
            <a:off x="1104900" y="3757761"/>
            <a:ext cx="4505325" cy="66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Nessun silos di dati. Che il cliente ordini dal sito, dall'app, via social o consumi direttamente al tavolo in store, lo storico degli ordini e i punti fedeltà del suo Passaporto Digitale sono sincronizzati in tempo reale.</a:t>
            </a:r>
            <a:endParaRPr/>
          </a:p>
        </p:txBody>
      </p:sp>
      <p:sp>
        <p:nvSpPr>
          <p:cNvPr id="266" name="Google Shape;266;p22"/>
          <p:cNvSpPr txBox="1"/>
          <p:nvPr/>
        </p:nvSpPr>
        <p:spPr>
          <a:xfrm>
            <a:off x="6581775" y="3405336"/>
            <a:ext cx="4730591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IPER-PERSONALIZZAZIONE</a:t>
            </a:r>
            <a:endParaRPr/>
          </a:p>
        </p:txBody>
      </p:sp>
      <p:sp>
        <p:nvSpPr>
          <p:cNvPr id="267" name="Google Shape;267;p22"/>
          <p:cNvSpPr txBox="1"/>
          <p:nvPr/>
        </p:nvSpPr>
        <p:spPr>
          <a:xfrm>
            <a:off x="6581775" y="3757761"/>
            <a:ext cx="4505325" cy="66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L'app analizza le preferenze, le intolleranze e gli acquisti passati per suggerire in automatico abbinamenti ideali, salse personalizzate e sconti dedicati esclusivamente ai gusti specifici di ciascun utente.</a:t>
            </a:r>
            <a:endParaRPr/>
          </a:p>
        </p:txBody>
      </p:sp>
      <p:pic>
        <p:nvPicPr>
          <p:cNvPr id="268" name="Google Shape;268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4900" y="3414861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81775" y="3414861"/>
            <a:ext cx="1905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60985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686175" y="260985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008090"/>
            <a:ext cx="2733675" cy="1207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86175" y="4008090"/>
            <a:ext cx="2733675" cy="120774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3"/>
          <p:cNvSpPr txBox="1"/>
          <p:nvPr/>
        </p:nvSpPr>
        <p:spPr>
          <a:xfrm>
            <a:off x="904875" y="571500"/>
            <a:ext cx="11051381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FFFFF"/>
                </a:solidFill>
                <a:latin typeface="Outfit Black"/>
                <a:ea typeface="Outfit Black"/>
                <a:cs typeface="Outfit Black"/>
                <a:sym typeface="Outfit Black"/>
              </a:rPr>
              <a:t>RISULTATI ATTESI</a:t>
            </a:r>
            <a:endParaRPr/>
          </a:p>
        </p:txBody>
      </p:sp>
      <p:sp>
        <p:nvSpPr>
          <p:cNvPr id="280" name="Google Shape;280;p23"/>
          <p:cNvSpPr/>
          <p:nvPr/>
        </p:nvSpPr>
        <p:spPr>
          <a:xfrm>
            <a:off x="762000" y="571500"/>
            <a:ext cx="47625" cy="409575"/>
          </a:xfrm>
          <a:prstGeom prst="rect">
            <a:avLst/>
          </a:prstGeom>
          <a:solidFill>
            <a:srgbClr val="F9570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 txBox="1"/>
          <p:nvPr/>
        </p:nvSpPr>
        <p:spPr>
          <a:xfrm>
            <a:off x="762000" y="1057275"/>
            <a:ext cx="1066800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Le proiezioni di crescita stimate entro i primi 12 mesi dal lancio della nuova piattaforma.</a:t>
            </a:r>
            <a:endParaRPr/>
          </a:p>
        </p:txBody>
      </p:sp>
      <p:sp>
        <p:nvSpPr>
          <p:cNvPr id="282" name="Google Shape;282;p23"/>
          <p:cNvSpPr txBox="1"/>
          <p:nvPr/>
        </p:nvSpPr>
        <p:spPr>
          <a:xfrm>
            <a:off x="6800850" y="2940694"/>
            <a:ext cx="486060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CRESCITA OPERATIVA SOSTENIBILE</a:t>
            </a:r>
            <a:endParaRPr/>
          </a:p>
        </p:txBody>
      </p:sp>
      <p:sp>
        <p:nvSpPr>
          <p:cNvPr id="283" name="Google Shape;283;p23"/>
          <p:cNvSpPr txBox="1"/>
          <p:nvPr/>
        </p:nvSpPr>
        <p:spPr>
          <a:xfrm>
            <a:off x="6800850" y="3274069"/>
            <a:ext cx="4629150" cy="66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La disintermediazione dalle grandi piattaforme di terze parti (come Just Eat o Deliveroo) ci permetterà di recuperare importanti punti di marginalità sul delivery.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6800850" y="4079527"/>
            <a:ext cx="4629150" cy="662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87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Il focus sulla community locale e sulle dinamiche interattive dei social incrementerà la frequenza media d'acquisto, gettando le basi per un brand scalabile e di proprietà.</a:t>
            </a:r>
            <a:endParaRPr/>
          </a:p>
        </p:txBody>
      </p:sp>
      <p:sp>
        <p:nvSpPr>
          <p:cNvPr id="285" name="Google Shape;285;p23"/>
          <p:cNvSpPr txBox="1"/>
          <p:nvPr/>
        </p:nvSpPr>
        <p:spPr>
          <a:xfrm>
            <a:off x="1000125" y="2847975"/>
            <a:ext cx="2257425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95707"/>
                </a:solidFill>
                <a:latin typeface="Outfit Black"/>
                <a:ea typeface="Outfit Black"/>
                <a:cs typeface="Outfit Black"/>
                <a:sym typeface="Outfit Black"/>
              </a:rPr>
              <a:t>+45%</a:t>
            </a:r>
            <a:endParaRPr/>
          </a:p>
        </p:txBody>
      </p:sp>
      <p:sp>
        <p:nvSpPr>
          <p:cNvPr id="286" name="Google Shape;286;p23"/>
          <p:cNvSpPr txBox="1"/>
          <p:nvPr/>
        </p:nvSpPr>
        <p:spPr>
          <a:xfrm>
            <a:off x="1000125" y="3398490"/>
            <a:ext cx="22574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ORDINI DIRETTI</a:t>
            </a:r>
            <a:endParaRPr/>
          </a:p>
        </p:txBody>
      </p:sp>
      <p:sp>
        <p:nvSpPr>
          <p:cNvPr id="287" name="Google Shape;287;p23"/>
          <p:cNvSpPr txBox="1"/>
          <p:nvPr/>
        </p:nvSpPr>
        <p:spPr>
          <a:xfrm>
            <a:off x="3924300" y="2847975"/>
            <a:ext cx="2257425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95707"/>
                </a:solidFill>
                <a:latin typeface="Outfit Black"/>
                <a:ea typeface="Outfit Black"/>
                <a:cs typeface="Outfit Black"/>
                <a:sym typeface="Outfit Black"/>
              </a:rPr>
              <a:t>+30%</a:t>
            </a:r>
            <a:endParaRPr/>
          </a:p>
        </p:txBody>
      </p:sp>
      <p:sp>
        <p:nvSpPr>
          <p:cNvPr id="288" name="Google Shape;288;p23"/>
          <p:cNvSpPr txBox="1"/>
          <p:nvPr/>
        </p:nvSpPr>
        <p:spPr>
          <a:xfrm>
            <a:off x="3924300" y="3398490"/>
            <a:ext cx="22574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FIDELIZZAZIONE</a:t>
            </a:r>
            <a:endParaRPr/>
          </a:p>
        </p:txBody>
      </p:sp>
      <p:sp>
        <p:nvSpPr>
          <p:cNvPr id="289" name="Google Shape;289;p23"/>
          <p:cNvSpPr txBox="1"/>
          <p:nvPr/>
        </p:nvSpPr>
        <p:spPr>
          <a:xfrm>
            <a:off x="1000125" y="4246215"/>
            <a:ext cx="2257425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95707"/>
                </a:solidFill>
                <a:latin typeface="Outfit Black"/>
                <a:ea typeface="Outfit Black"/>
                <a:cs typeface="Outfit Black"/>
                <a:sym typeface="Outfit Black"/>
              </a:rPr>
              <a:t>+15k</a:t>
            </a:r>
            <a:endParaRPr/>
          </a:p>
        </p:txBody>
      </p:sp>
      <p:sp>
        <p:nvSpPr>
          <p:cNvPr id="290" name="Google Shape;290;p23"/>
          <p:cNvSpPr txBox="1"/>
          <p:nvPr/>
        </p:nvSpPr>
        <p:spPr>
          <a:xfrm>
            <a:off x="1000125" y="4796730"/>
            <a:ext cx="22574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DOWNLOAD APP</a:t>
            </a:r>
            <a:endParaRPr/>
          </a:p>
        </p:txBody>
      </p:sp>
      <p:sp>
        <p:nvSpPr>
          <p:cNvPr id="291" name="Google Shape;291;p23"/>
          <p:cNvSpPr txBox="1"/>
          <p:nvPr/>
        </p:nvSpPr>
        <p:spPr>
          <a:xfrm>
            <a:off x="3924300" y="4246215"/>
            <a:ext cx="2257425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F95707"/>
                </a:solidFill>
                <a:latin typeface="Outfit Black"/>
                <a:ea typeface="Outfit Black"/>
                <a:cs typeface="Outfit Black"/>
                <a:sym typeface="Outfit Black"/>
              </a:rPr>
              <a:t>-20%</a:t>
            </a:r>
            <a:endParaRPr/>
          </a:p>
        </p:txBody>
      </p:sp>
      <p:sp>
        <p:nvSpPr>
          <p:cNvPr id="292" name="Google Shape;292;p23"/>
          <p:cNvSpPr txBox="1"/>
          <p:nvPr/>
        </p:nvSpPr>
        <p:spPr>
          <a:xfrm>
            <a:off x="3924300" y="4796730"/>
            <a:ext cx="225742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COSTI LOGISTICI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B0A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Google Shape;297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09182" y="4050952"/>
            <a:ext cx="337348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4"/>
          <p:cNvSpPr txBox="1"/>
          <p:nvPr/>
        </p:nvSpPr>
        <p:spPr>
          <a:xfrm>
            <a:off x="2095500" y="2435572"/>
            <a:ext cx="800100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0" i="0" u="none" strike="noStrike" cap="none">
                <a:solidFill>
                  <a:srgbClr val="FFFFFF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IL FUTURO È </a:t>
            </a:r>
            <a:r>
              <a:rPr lang="en-US" sz="4050" b="0" i="0" u="none" strike="noStrike" cap="none">
                <a:solidFill>
                  <a:srgbClr val="F95707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DIGITALE.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2286000" y="3168997"/>
            <a:ext cx="7620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A3A3A3"/>
                </a:solidFill>
                <a:latin typeface="Inter"/>
                <a:ea typeface="Inter"/>
                <a:cs typeface="Inter"/>
                <a:sym typeface="Inter"/>
              </a:rPr>
              <a:t>Grazie per l'attenzione. Unisciti alla rivoluzione mobile di Just Burgers e scopri come stiamo ridefinendo l'esperienza del fast-food artigianale.</a:t>
            </a:r>
            <a:endParaRPr/>
          </a:p>
        </p:txBody>
      </p:sp>
      <p:pic>
        <p:nvPicPr>
          <p:cNvPr id="301" name="Google Shape;30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47307" y="4165252"/>
            <a:ext cx="1428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982</Words>
  <Application>Microsoft Office PowerPoint</Application>
  <PresentationFormat>Widescreen</PresentationFormat>
  <Paragraphs>83</Paragraphs>
  <Slides>12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21" baseType="lpstr">
      <vt:lpstr>Outfit Black</vt:lpstr>
      <vt:lpstr>Inter SemiBold</vt:lpstr>
      <vt:lpstr>Outfit ExtraBold</vt:lpstr>
      <vt:lpstr>Inter</vt:lpstr>
      <vt:lpstr>Inter Black</vt:lpstr>
      <vt:lpstr>Calibri</vt:lpstr>
      <vt:lpstr>Arial</vt:lpstr>
      <vt:lpstr>Outfit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Mattia Rizzi</dc:creator>
  <cp:lastModifiedBy>Mattia Rizzi</cp:lastModifiedBy>
  <cp:revision>2</cp:revision>
  <dcterms:modified xsi:type="dcterms:W3CDTF">2026-06-29T16:41:59Z</dcterms:modified>
</cp:coreProperties>
</file>